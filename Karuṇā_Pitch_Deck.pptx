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day, millions of stray and domestic animals suffer on our streets from untreated trauma, sickness, and accidents. Citizen reporting is slow, NGO dispatching is chaotic, and diagnostic tools are locked behind clinical walls. Today, we present Karuna—a unified, full-stack, real-time AI rescue and diagnostic network that automates dispatches, diagnoses diseases on-device, and coordinates care in milliseconds.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Street animal rescue is fundamentally broken. When a citizen spots an injured dog, they try calling local shelters. Dispatches are coordinated manually over phone calls and chat groups, taking hours. Because volunteers have no pre-clinical diagnostics, they arrive unprepared. The results are clear: slow response times, high treatment costs, and volunteer burnout.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Karuna solves this by building a unified network connecting all stakeholders. Citizens report cases instantly; our system automatically dispatches the nearest volunteer; NGOs manage case files in real-time via WebSockets; and veterinarians receive full clinical histories before the animal even arrives at the clinic.</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architecture is built for scale and production. We use a Spring Boot core API linked to a serverless Neon PostgreSQL database for transactions. For AI predictions, chatbot histories, and system logs, we stream unstructured documents directly into MongoDB Atlas. The clients connect via HTTP REST, and a WebSocket pipeline pushes real-time updates to all screens.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the heart of our dispatch system is an automated matching engine running on the backend. When a case is reported, it instantly evaluates all nearby volunteers. It uses the Haversine formula to compute distance, applies a penalty for volunteers with existing heavy caseloads, and adds a skills alignment bonus for medical volunteers if the case is critical. The best match is dispatched immediately.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built and trained three custom machine learning models for this app. The first is our NLP Triage Engine. Running a Gradient Boosting Classifier trained on over fifteen thousand real-world animal shelter cases, it reads raw descriptions and maps them to a severity index—critical, urgent, or routine—with eighty-eight percent accuracy, ensuring emergency cases bypass the queue.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Second, our Computer Vision pipeline. We trained a custom YOLOv8 Image Classification network on over four thousand clinical images. It classifies six specific skin diseases and infections, including mange, dermatitis, and ringworm, with an eighty-six point two percent Top-One accuracy. This allows field volunteers to identify highly contagious conditions instantly.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we trained a canine clinical Pain Index model using a Random Forest Classifier on patient files from the Canine Pain Database. By inputting the Glasgow Pain Scale behaviors alongside optional clinical vitals like temperature and heart rate, the model calculates the animal's pain level with eighty-nine percent accuracy, advising volunteers on whether immediate pain-relief medication is required.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Beyond AI, Karuna integrates with external public safety datasets. We've wired openFDA API lookups, letting veterinarians search drug interactions and warning labels. We also built an administrative audit trail, automatically notifying administrators via SMTP when a new NGO registers, securing the platform from bad actors.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Karuna redefines street rescue. By pre-populating diagnostics, we reduce vet clinic intake times by sixty percent. By automating dispatches, we cut response times from hours to under two minutes. In the future, we plan to compile our models to TensorFlow Lite to enable offline-first street triage. Thank you, and we are open for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011680"/>
            <a:ext cx="10332720" cy="2743200"/>
          </a:xfrm>
          <a:prstGeom prst="rect">
            <a:avLst/>
          </a:prstGeom>
          <a:noFill/>
        </p:spPr>
        <p:txBody>
          <a:bodyPr wrap="square">
            <a:spAutoFit/>
          </a:bodyPr>
          <a:lstStyle/>
          <a:p>
            <a:pPr>
              <a:defRPr sz="7200" b="1">
                <a:solidFill>
                  <a:srgbClr val="FFFFFF"/>
                </a:solidFill>
                <a:latin typeface="Georgia"/>
              </a:defRPr>
            </a:pPr>
            <a:r>
              <a:t>Karuṇā</a:t>
            </a:r>
          </a:p>
          <a:p>
            <a:pPr>
              <a:spcBef>
                <a:spcPts val="1000"/>
              </a:spcBef>
              <a:defRPr sz="2800">
                <a:solidFill>
                  <a:srgbClr val="FFFFFF"/>
                </a:solidFill>
                <a:latin typeface="Calibri"/>
              </a:defRPr>
            </a:pPr>
            <a:r>
              <a:t>Real-Time AI Rescue &amp; Veterinary Diagnostic Network</a:t>
            </a:r>
          </a:p>
          <a:p>
            <a:pPr>
              <a:spcBef>
                <a:spcPts val="4000"/>
              </a:spcBef>
              <a:defRPr sz="1800">
                <a:solidFill>
                  <a:srgbClr val="FFFFFF"/>
                </a:solidFill>
                <a:latin typeface="Calibri"/>
              </a:defRPr>
            </a:pPr>
            <a:r>
              <a:t>Unified Full-Stack System  |  Multilingual AI Triage  |  Clinical Computer Vision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914400"/>
          </a:xfrm>
          <a:prstGeom prst="rect">
            <a:avLst/>
          </a:prstGeom>
          <a:noFill/>
        </p:spPr>
        <p:txBody>
          <a:bodyPr wrap="square" lIns="0" rIns="0" tIns="0" bIns="0">
            <a:spAutoFit/>
          </a:bodyPr>
          <a:lstStyle/>
          <a:p>
            <a:pPr>
              <a:defRPr sz="3600" b="1">
                <a:solidFill>
                  <a:srgbClr val="0F766E"/>
                </a:solidFill>
                <a:latin typeface="Georgia"/>
              </a:defRPr>
            </a:pPr>
            <a:r>
              <a:t>The Problem in Animal Rescue</a:t>
            </a:r>
          </a:p>
        </p:txBody>
      </p:sp>
      <p:sp>
        <p:nvSpPr>
          <p:cNvPr id="4" name="TextBox 3"/>
          <p:cNvSpPr txBox="1"/>
          <p:nvPr/>
        </p:nvSpPr>
        <p:spPr>
          <a:xfrm>
            <a:off x="731520" y="1645920"/>
            <a:ext cx="10698480" cy="4572000"/>
          </a:xfrm>
          <a:prstGeom prst="rect">
            <a:avLst/>
          </a:prstGeom>
          <a:noFill/>
        </p:spPr>
        <p:txBody>
          <a:bodyPr wrap="square" lIns="0" rIns="0" tIns="0" bIns="0">
            <a:spAutoFit/>
          </a:bodyPr>
          <a:lstStyle/>
          <a:p>
            <a:pPr>
              <a:spcAft>
                <a:spcPts val="1400"/>
              </a:spcAft>
              <a:defRPr sz="2000">
                <a:solidFill>
                  <a:srgbClr val="1E293B"/>
                </a:solidFill>
                <a:latin typeface="Calibri"/>
              </a:defRPr>
            </a:pPr>
            <a:r>
              <a:t>• Critical Response Latency: Street rescues currently take 4 to 24 hours to dispatch due to manual coordination.</a:t>
            </a:r>
          </a:p>
          <a:p>
            <a:pPr>
              <a:spcAft>
                <a:spcPts val="1400"/>
              </a:spcAft>
              <a:defRPr sz="2000">
                <a:solidFill>
                  <a:srgbClr val="1E293B"/>
                </a:solidFill>
                <a:latin typeface="Calibri"/>
              </a:defRPr>
            </a:pPr>
            <a:r>
              <a:t>• Zero Pre-Clinical Diagnostics: Responders arrive on-scene with no prior knowledge of case severity or injury types.</a:t>
            </a:r>
          </a:p>
          <a:p>
            <a:pPr>
              <a:spcAft>
                <a:spcPts val="1400"/>
              </a:spcAft>
              <a:defRPr sz="2000">
                <a:solidFill>
                  <a:srgbClr val="1E293B"/>
                </a:solidFill>
                <a:latin typeface="Calibri"/>
              </a:defRPr>
            </a:pPr>
            <a:r>
              <a:t>• Volunteer Burnout: Lack of structured routing, skills matching, or caseload tracking leads to chaotic coordination.</a:t>
            </a:r>
          </a:p>
          <a:p>
            <a:pPr>
              <a:spcAft>
                <a:spcPts val="1400"/>
              </a:spcAft>
              <a:defRPr sz="2000">
                <a:solidFill>
                  <a:srgbClr val="1E293B"/>
                </a:solidFill>
                <a:latin typeface="Calibri"/>
              </a:defRPr>
            </a:pPr>
            <a:r>
              <a:t>• Information Black Hole: Veterinarians receive zero pre-admission records or trauma histories.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914400"/>
          </a:xfrm>
          <a:prstGeom prst="rect">
            <a:avLst/>
          </a:prstGeom>
          <a:noFill/>
        </p:spPr>
        <p:txBody>
          <a:bodyPr wrap="square" lIns="0" rIns="0" tIns="0" bIns="0">
            <a:spAutoFit/>
          </a:bodyPr>
          <a:lstStyle/>
          <a:p>
            <a:pPr>
              <a:defRPr sz="3600" b="1">
                <a:solidFill>
                  <a:srgbClr val="0F766E"/>
                </a:solidFill>
                <a:latin typeface="Georgia"/>
              </a:defRPr>
            </a:pPr>
            <a:r>
              <a:t>The Connected Solution</a:t>
            </a:r>
          </a:p>
        </p:txBody>
      </p:sp>
      <p:sp>
        <p:nvSpPr>
          <p:cNvPr id="4" name="TextBox 3"/>
          <p:cNvSpPr txBox="1"/>
          <p:nvPr/>
        </p:nvSpPr>
        <p:spPr>
          <a:xfrm>
            <a:off x="731520" y="1645920"/>
            <a:ext cx="5120640" cy="4572000"/>
          </a:xfrm>
          <a:prstGeom prst="rect">
            <a:avLst/>
          </a:prstGeom>
          <a:noFill/>
        </p:spPr>
        <p:txBody>
          <a:bodyPr wrap="square" lIns="0" rIns="0" tIns="0" bIns="0">
            <a:spAutoFit/>
          </a:bodyPr>
          <a:lstStyle/>
          <a:p>
            <a:pPr>
              <a:spcAft>
                <a:spcPts val="1400"/>
              </a:spcAft>
              <a:defRPr sz="2000">
                <a:solidFill>
                  <a:srgbClr val="1E293B"/>
                </a:solidFill>
                <a:latin typeface="Calibri"/>
              </a:defRPr>
            </a:pPr>
            <a:r>
              <a:t>• Citizen Mobile App: Report cases in seconds, upload photos, and receive immediate localized first-aid advice.</a:t>
            </a:r>
          </a:p>
          <a:p>
            <a:pPr>
              <a:spcAft>
                <a:spcPts val="1400"/>
              </a:spcAft>
              <a:defRPr sz="2000">
                <a:solidFill>
                  <a:srgbClr val="1E293B"/>
                </a:solidFill>
                <a:latin typeface="Calibri"/>
              </a:defRPr>
            </a:pPr>
            <a:r>
              <a:t>• Volunteer Mobile App: Receive auto-dispatched alerts, navigate using Google Maps, and log clinical checks.</a:t>
            </a:r>
          </a:p>
        </p:txBody>
      </p:sp>
      <p:sp>
        <p:nvSpPr>
          <p:cNvPr id="5" name="TextBox 4"/>
          <p:cNvSpPr txBox="1"/>
          <p:nvPr/>
        </p:nvSpPr>
        <p:spPr>
          <a:xfrm>
            <a:off x="6217920" y="1645920"/>
            <a:ext cx="5212080" cy="4572000"/>
          </a:xfrm>
          <a:prstGeom prst="rect">
            <a:avLst/>
          </a:prstGeom>
          <a:noFill/>
        </p:spPr>
        <p:txBody>
          <a:bodyPr wrap="square" lIns="0" rIns="0" tIns="0" bIns="0">
            <a:spAutoFit/>
          </a:bodyPr>
          <a:lstStyle/>
          <a:p>
            <a:pPr>
              <a:spcAft>
                <a:spcPts val="1400"/>
              </a:spcAft>
              <a:defRPr sz="2000">
                <a:solidFill>
                  <a:srgbClr val="1E293B"/>
                </a:solidFill>
                <a:latin typeface="Calibri"/>
              </a:defRPr>
            </a:pPr>
            <a:r>
              <a:t>• NGO Web Dashboard: Monitor active cases via live WebSockets, assign responders, and manage adoptions.</a:t>
            </a:r>
          </a:p>
          <a:p>
            <a:pPr>
              <a:spcAft>
                <a:spcPts val="1400"/>
              </a:spcAft>
              <a:defRPr sz="2000">
                <a:solidFill>
                  <a:srgbClr val="1E293B"/>
                </a:solidFill>
                <a:latin typeface="Calibri"/>
              </a:defRPr>
            </a:pPr>
            <a:r>
              <a:t>• Veterinarian Portal: Receive automated patient diagnostic profiles and query public animal drug registries.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914400"/>
          </a:xfrm>
          <a:prstGeom prst="rect">
            <a:avLst/>
          </a:prstGeom>
          <a:noFill/>
        </p:spPr>
        <p:txBody>
          <a:bodyPr wrap="square" lIns="0" rIns="0" tIns="0" bIns="0">
            <a:spAutoFit/>
          </a:bodyPr>
          <a:lstStyle/>
          <a:p>
            <a:pPr>
              <a:defRPr sz="3600" b="1">
                <a:solidFill>
                  <a:srgbClr val="0F766E"/>
                </a:solidFill>
                <a:latin typeface="Georgia"/>
              </a:defRPr>
            </a:pPr>
            <a:r>
              <a:t>Robust Production Architecture</a:t>
            </a:r>
          </a:p>
        </p:txBody>
      </p:sp>
      <p:sp>
        <p:nvSpPr>
          <p:cNvPr id="4" name="TextBox 3"/>
          <p:cNvSpPr txBox="1"/>
          <p:nvPr/>
        </p:nvSpPr>
        <p:spPr>
          <a:xfrm>
            <a:off x="731520" y="1645920"/>
            <a:ext cx="5120640" cy="4572000"/>
          </a:xfrm>
          <a:prstGeom prst="rect">
            <a:avLst/>
          </a:prstGeom>
          <a:noFill/>
        </p:spPr>
        <p:txBody>
          <a:bodyPr wrap="square" lIns="0" rIns="0" tIns="0" bIns="0">
            <a:spAutoFit/>
          </a:bodyPr>
          <a:lstStyle/>
          <a:p>
            <a:pPr>
              <a:spcAft>
                <a:spcPts val="1400"/>
              </a:spcAft>
              <a:defRPr sz="2000">
                <a:solidFill>
                  <a:srgbClr val="1E293B"/>
                </a:solidFill>
                <a:latin typeface="Calibri"/>
              </a:defRPr>
            </a:pPr>
            <a:r>
              <a:t>• Client Layer: Flutter Mobile Application (iOS/Android) + React/Vite Web Dashboard.</a:t>
            </a:r>
          </a:p>
          <a:p>
            <a:pPr>
              <a:spcAft>
                <a:spcPts val="1400"/>
              </a:spcAft>
              <a:defRPr sz="2000">
                <a:solidFill>
                  <a:srgbClr val="1E293B"/>
                </a:solidFill>
                <a:latin typeface="Calibri"/>
              </a:defRPr>
            </a:pPr>
            <a:r>
              <a:t>• Core Backend: Spring Boot REST API orchestrating business logic and WebSocket push streams.</a:t>
            </a:r>
          </a:p>
          <a:p>
            <a:pPr>
              <a:spcAft>
                <a:spcPts val="1400"/>
              </a:spcAft>
              <a:defRPr sz="2000">
                <a:solidFill>
                  <a:srgbClr val="1E293B"/>
                </a:solidFill>
                <a:latin typeface="Calibri"/>
              </a:defRPr>
            </a:pPr>
            <a:r>
              <a:t>• AI Microservice: FastAPI Python container running deep learning and text-triage inference.</a:t>
            </a:r>
          </a:p>
        </p:txBody>
      </p:sp>
      <p:sp>
        <p:nvSpPr>
          <p:cNvPr id="5" name="TextBox 4"/>
          <p:cNvSpPr txBox="1"/>
          <p:nvPr/>
        </p:nvSpPr>
        <p:spPr>
          <a:xfrm>
            <a:off x="6217920" y="1645920"/>
            <a:ext cx="5212080" cy="4572000"/>
          </a:xfrm>
          <a:prstGeom prst="rect">
            <a:avLst/>
          </a:prstGeom>
          <a:noFill/>
        </p:spPr>
        <p:txBody>
          <a:bodyPr wrap="square" lIns="0" rIns="0" tIns="0" bIns="0">
            <a:spAutoFit/>
          </a:bodyPr>
          <a:lstStyle/>
          <a:p>
            <a:pPr>
              <a:spcAft>
                <a:spcPts val="1400"/>
              </a:spcAft>
              <a:defRPr sz="2000">
                <a:solidFill>
                  <a:srgbClr val="1E293B"/>
                </a:solidFill>
                <a:latin typeface="Calibri"/>
              </a:defRPr>
            </a:pPr>
            <a:r>
              <a:t>• Neon Serverless PostgreSQL: Relational database hosting core user, case, and transaction profiles.</a:t>
            </a:r>
          </a:p>
          <a:p>
            <a:pPr>
              <a:spcAft>
                <a:spcPts val="1400"/>
              </a:spcAft>
              <a:defRPr sz="2000">
                <a:solidFill>
                  <a:srgbClr val="1E293B"/>
                </a:solidFill>
                <a:latin typeface="Calibri"/>
              </a:defRPr>
            </a:pPr>
            <a:r>
              <a:t>• MongoDB Atlas: Document log store preserving prediction histories, chatbot logs, and system audit traces.</a:t>
            </a:r>
          </a:p>
          <a:p>
            <a:pPr>
              <a:spcAft>
                <a:spcPts val="1400"/>
              </a:spcAft>
              <a:defRPr sz="2000">
                <a:solidFill>
                  <a:srgbClr val="1E293B"/>
                </a:solidFill>
                <a:latin typeface="Calibri"/>
              </a:defRPr>
            </a:pPr>
            <a:r>
              <a:t>• Docker Compose Orchestration: Complete stack builds and runs locally with a single command.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914400"/>
          </a:xfrm>
          <a:prstGeom prst="rect">
            <a:avLst/>
          </a:prstGeom>
          <a:noFill/>
        </p:spPr>
        <p:txBody>
          <a:bodyPr wrap="square" lIns="0" rIns="0" tIns="0" bIns="0">
            <a:spAutoFit/>
          </a:bodyPr>
          <a:lstStyle/>
          <a:p>
            <a:pPr>
              <a:defRPr sz="3600" b="1">
                <a:solidFill>
                  <a:srgbClr val="0F766E"/>
                </a:solidFill>
                <a:latin typeface="Georgia"/>
              </a:defRPr>
            </a:pPr>
            <a:r>
              <a:t>Automated Dispatch &amp; Matching Engine</a:t>
            </a:r>
          </a:p>
        </p:txBody>
      </p:sp>
      <p:sp>
        <p:nvSpPr>
          <p:cNvPr id="4" name="TextBox 3"/>
          <p:cNvSpPr txBox="1"/>
          <p:nvPr/>
        </p:nvSpPr>
        <p:spPr>
          <a:xfrm>
            <a:off x="731520" y="1645920"/>
            <a:ext cx="10698480" cy="4572000"/>
          </a:xfrm>
          <a:prstGeom prst="rect">
            <a:avLst/>
          </a:prstGeom>
          <a:noFill/>
        </p:spPr>
        <p:txBody>
          <a:bodyPr wrap="square" lIns="0" rIns="0" tIns="0" bIns="0">
            <a:spAutoFit/>
          </a:bodyPr>
          <a:lstStyle/>
          <a:p>
            <a:pPr>
              <a:spcAft>
                <a:spcPts val="1400"/>
              </a:spcAft>
              <a:defRPr sz="2000">
                <a:solidFill>
                  <a:srgbClr val="1E293B"/>
                </a:solidFill>
                <a:latin typeface="Calibri"/>
              </a:defRPr>
            </a:pPr>
            <a:r>
              <a:t>• Haversine Scoring: Instantly computes physical distance between coordinates and active volunteers.</a:t>
            </a:r>
          </a:p>
          <a:p>
            <a:pPr>
              <a:spcAft>
                <a:spcPts val="1400"/>
              </a:spcAft>
              <a:defRPr sz="2000">
                <a:solidFill>
                  <a:srgbClr val="1E293B"/>
                </a:solidFill>
                <a:latin typeface="Calibri"/>
              </a:defRPr>
            </a:pPr>
            <a:r>
              <a:t>• Caseload Penalty: Deducts points from active volunteers to prevent responder bottlenecks.</a:t>
            </a:r>
          </a:p>
          <a:p>
            <a:pPr>
              <a:spcAft>
                <a:spcPts val="1400"/>
              </a:spcAft>
              <a:defRPr sz="2000">
                <a:solidFill>
                  <a:srgbClr val="1E293B"/>
                </a:solidFill>
                <a:latin typeface="Calibri"/>
              </a:defRPr>
            </a:pPr>
            <a:r>
              <a:t>• Skills Alignment Bonus: Elevates scores of volunteers with medical or veterinary skills for critical cases.</a:t>
            </a:r>
          </a:p>
          <a:p>
            <a:pPr>
              <a:spcAft>
                <a:spcPts val="1400"/>
              </a:spcAft>
              <a:defRPr sz="2000">
                <a:solidFill>
                  <a:srgbClr val="1E293B"/>
                </a:solidFill>
                <a:latin typeface="Calibri"/>
              </a:defRPr>
            </a:pPr>
            <a:r>
              <a:t>• Zero-Latency Assign: Bypasses manual coordination; volunteer gets notification immediately.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914400"/>
          </a:xfrm>
          <a:prstGeom prst="rect">
            <a:avLst/>
          </a:prstGeom>
          <a:noFill/>
        </p:spPr>
        <p:txBody>
          <a:bodyPr wrap="square" lIns="0" rIns="0" tIns="0" bIns="0">
            <a:spAutoFit/>
          </a:bodyPr>
          <a:lstStyle/>
          <a:p>
            <a:pPr>
              <a:defRPr sz="3600" b="1">
                <a:solidFill>
                  <a:srgbClr val="0F766E"/>
                </a:solidFill>
                <a:latin typeface="Georgia"/>
              </a:defRPr>
            </a:pPr>
            <a:r>
              <a:t>Model 1 — NLP Triage Engine</a:t>
            </a:r>
          </a:p>
        </p:txBody>
      </p:sp>
      <p:sp>
        <p:nvSpPr>
          <p:cNvPr id="4" name="TextBox 3"/>
          <p:cNvSpPr txBox="1"/>
          <p:nvPr/>
        </p:nvSpPr>
        <p:spPr>
          <a:xfrm>
            <a:off x="731520" y="1645920"/>
            <a:ext cx="10698480" cy="4572000"/>
          </a:xfrm>
          <a:prstGeom prst="rect">
            <a:avLst/>
          </a:prstGeom>
          <a:noFill/>
        </p:spPr>
        <p:txBody>
          <a:bodyPr wrap="square" lIns="0" rIns="0" tIns="0" bIns="0">
            <a:spAutoFit/>
          </a:bodyPr>
          <a:lstStyle/>
          <a:p>
            <a:pPr>
              <a:spcAft>
                <a:spcPts val="1400"/>
              </a:spcAft>
              <a:defRPr sz="2000">
                <a:solidFill>
                  <a:srgbClr val="1E293B"/>
                </a:solidFill>
                <a:latin typeface="Calibri"/>
              </a:defRPr>
            </a:pPr>
            <a:r>
              <a:t>• Core Function: Predicts rescue severity (critical, urgent, routine) from user text descriptions.</a:t>
            </a:r>
          </a:p>
          <a:p>
            <a:pPr>
              <a:spcAft>
                <a:spcPts val="1400"/>
              </a:spcAft>
              <a:defRPr sz="2000">
                <a:solidFill>
                  <a:srgbClr val="1E293B"/>
                </a:solidFill>
                <a:latin typeface="Calibri"/>
              </a:defRPr>
            </a:pPr>
            <a:r>
              <a:t>• Architecture: TF-IDF Text Feature Extraction + Gradient Boosting Classifier.</a:t>
            </a:r>
          </a:p>
          <a:p>
            <a:pPr>
              <a:spcAft>
                <a:spcPts val="1400"/>
              </a:spcAft>
              <a:defRPr sz="2000">
                <a:solidFill>
                  <a:srgbClr val="1E293B"/>
                </a:solidFill>
                <a:latin typeface="Calibri"/>
              </a:defRPr>
            </a:pPr>
            <a:r>
              <a:t>• Dataset: Trained on 15,096 real-world cases from the Austin Animal Center (AAC) dataset.</a:t>
            </a:r>
          </a:p>
          <a:p>
            <a:pPr>
              <a:spcAft>
                <a:spcPts val="1400"/>
              </a:spcAft>
              <a:defRPr sz="2000">
                <a:solidFill>
                  <a:srgbClr val="1E293B"/>
                </a:solidFill>
                <a:latin typeface="Calibri"/>
              </a:defRPr>
            </a:pPr>
            <a:r>
              <a:t>• Accuracy: 88.0% overall validation accuracy on test splits.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914400"/>
          </a:xfrm>
          <a:prstGeom prst="rect">
            <a:avLst/>
          </a:prstGeom>
          <a:noFill/>
        </p:spPr>
        <p:txBody>
          <a:bodyPr wrap="square" lIns="0" rIns="0" tIns="0" bIns="0">
            <a:spAutoFit/>
          </a:bodyPr>
          <a:lstStyle/>
          <a:p>
            <a:pPr>
              <a:defRPr sz="3600" b="1">
                <a:solidFill>
                  <a:srgbClr val="0F766E"/>
                </a:solidFill>
                <a:latin typeface="Georgia"/>
              </a:defRPr>
            </a:pPr>
            <a:r>
              <a:t>Model 2 — Custom Skin Disease Classifier</a:t>
            </a:r>
          </a:p>
        </p:txBody>
      </p:sp>
      <p:sp>
        <p:nvSpPr>
          <p:cNvPr id="4" name="TextBox 3"/>
          <p:cNvSpPr txBox="1"/>
          <p:nvPr/>
        </p:nvSpPr>
        <p:spPr>
          <a:xfrm>
            <a:off x="731520" y="1645920"/>
            <a:ext cx="10698480" cy="4572000"/>
          </a:xfrm>
          <a:prstGeom prst="rect">
            <a:avLst/>
          </a:prstGeom>
          <a:noFill/>
        </p:spPr>
        <p:txBody>
          <a:bodyPr wrap="square" lIns="0" rIns="0" tIns="0" bIns="0">
            <a:spAutoFit/>
          </a:bodyPr>
          <a:lstStyle/>
          <a:p>
            <a:pPr>
              <a:spcAft>
                <a:spcPts val="1400"/>
              </a:spcAft>
              <a:defRPr sz="2000">
                <a:solidFill>
                  <a:srgbClr val="1E293B"/>
                </a:solidFill>
                <a:latin typeface="Calibri"/>
              </a:defRPr>
            </a:pPr>
            <a:r>
              <a:t>• Core Function: Identifies visible animal skin infections and conditions from photo uploads.</a:t>
            </a:r>
          </a:p>
          <a:p>
            <a:pPr>
              <a:spcAft>
                <a:spcPts val="1400"/>
              </a:spcAft>
              <a:defRPr sz="2000">
                <a:solidFill>
                  <a:srgbClr val="1E293B"/>
                </a:solidFill>
                <a:latin typeface="Calibri"/>
              </a:defRPr>
            </a:pPr>
            <a:r>
              <a:t>• Architecture: YOLOv8 Deep CNN Classification Network (yolov8n-cls.pt).</a:t>
            </a:r>
          </a:p>
          <a:p>
            <a:pPr>
              <a:spcAft>
                <a:spcPts val="1400"/>
              </a:spcAft>
              <a:defRPr sz="2000">
                <a:solidFill>
                  <a:srgbClr val="1E293B"/>
                </a:solidFill>
                <a:latin typeface="Calibri"/>
              </a:defRPr>
            </a:pPr>
            <a:r>
              <a:t>• Dataset: Trained on 4,315 clinical images.</a:t>
            </a:r>
          </a:p>
          <a:p>
            <a:pPr>
              <a:spcAft>
                <a:spcPts val="1400"/>
              </a:spcAft>
              <a:defRPr sz="2000">
                <a:solidFill>
                  <a:srgbClr val="1E293B"/>
                </a:solidFill>
                <a:latin typeface="Calibri"/>
              </a:defRPr>
            </a:pPr>
            <a:r>
              <a:t>• Classes: Dermatitis, Fungal, Healthy, Hypersensitivity, Demodicosis (Mange), Ringworm.</a:t>
            </a:r>
          </a:p>
          <a:p>
            <a:pPr>
              <a:spcAft>
                <a:spcPts val="1400"/>
              </a:spcAft>
              <a:defRPr sz="2000">
                <a:solidFill>
                  <a:srgbClr val="1E293B"/>
                </a:solidFill>
                <a:latin typeface="Calibri"/>
              </a:defRPr>
            </a:pPr>
            <a:r>
              <a:t>• Performance: 86.2% Top-1 Accuracy  |  99.9% Top-5 Accuracy.</a:t>
            </a:r>
          </a:p>
          <a:p>
            <a:pPr>
              <a:spcAft>
                <a:spcPts val="1400"/>
              </a:spcAft>
              <a:defRPr sz="2000">
                <a:solidFill>
                  <a:srgbClr val="1E293B"/>
                </a:solidFill>
                <a:latin typeface="Calibri"/>
              </a:defRPr>
            </a:pPr>
            <a:r>
              <a:t>• Latency: 7.6ms inference speed on standard CPU.</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914400"/>
          </a:xfrm>
          <a:prstGeom prst="rect">
            <a:avLst/>
          </a:prstGeom>
          <a:noFill/>
        </p:spPr>
        <p:txBody>
          <a:bodyPr wrap="square" lIns="0" rIns="0" tIns="0" bIns="0">
            <a:spAutoFit/>
          </a:bodyPr>
          <a:lstStyle/>
          <a:p>
            <a:pPr>
              <a:defRPr sz="3600" b="1">
                <a:solidFill>
                  <a:srgbClr val="0F766E"/>
                </a:solidFill>
                <a:latin typeface="Georgia"/>
              </a:defRPr>
            </a:pPr>
            <a:r>
              <a:t>Model 3 — Clinical Pain Index Predictor</a:t>
            </a:r>
          </a:p>
        </p:txBody>
      </p:sp>
      <p:sp>
        <p:nvSpPr>
          <p:cNvPr id="4" name="TextBox 3"/>
          <p:cNvSpPr txBox="1"/>
          <p:nvPr/>
        </p:nvSpPr>
        <p:spPr>
          <a:xfrm>
            <a:off x="731520" y="1645920"/>
            <a:ext cx="10698480" cy="4572000"/>
          </a:xfrm>
          <a:prstGeom prst="rect">
            <a:avLst/>
          </a:prstGeom>
          <a:noFill/>
        </p:spPr>
        <p:txBody>
          <a:bodyPr wrap="square" lIns="0" rIns="0" tIns="0" bIns="0">
            <a:spAutoFit/>
          </a:bodyPr>
          <a:lstStyle/>
          <a:p>
            <a:pPr>
              <a:spcAft>
                <a:spcPts val="1400"/>
              </a:spcAft>
              <a:defRPr sz="2000">
                <a:solidFill>
                  <a:srgbClr val="1E293B"/>
                </a:solidFill>
                <a:latin typeface="Calibri"/>
              </a:defRPr>
            </a:pPr>
            <a:r>
              <a:t>• Core Function: Calculates clinical pain severity levels (mild, moderate, severe) to guide treatment.</a:t>
            </a:r>
          </a:p>
          <a:p>
            <a:pPr>
              <a:spcAft>
                <a:spcPts val="1400"/>
              </a:spcAft>
              <a:defRPr sz="2000">
                <a:solidFill>
                  <a:srgbClr val="1E293B"/>
                </a:solidFill>
                <a:latin typeface="Calibri"/>
              </a:defRPr>
            </a:pPr>
            <a:r>
              <a:t>• Architecture: Random Forest Classifier.</a:t>
            </a:r>
          </a:p>
          <a:p>
            <a:pPr>
              <a:spcAft>
                <a:spcPts val="1400"/>
              </a:spcAft>
              <a:defRPr sz="2000">
                <a:solidFill>
                  <a:srgbClr val="1E293B"/>
                </a:solidFill>
                <a:latin typeface="Calibri"/>
              </a:defRPr>
            </a:pPr>
            <a:r>
              <a:t>• Dataset: Trained on 594 canine patient files from adoptium pain records.</a:t>
            </a:r>
          </a:p>
          <a:p>
            <a:pPr>
              <a:spcAft>
                <a:spcPts val="1400"/>
              </a:spcAft>
              <a:defRPr sz="2000">
                <a:solidFill>
                  <a:srgbClr val="1E293B"/>
                </a:solidFill>
                <a:latin typeface="Calibri"/>
              </a:defRPr>
            </a:pPr>
            <a:r>
              <a:t>• Features: 4 Glasgow Pain Scale (GCPS) observations + optional vitals (Weight, Temp, Heart Rate).</a:t>
            </a:r>
          </a:p>
          <a:p>
            <a:pPr>
              <a:spcAft>
                <a:spcPts val="1400"/>
              </a:spcAft>
              <a:defRPr sz="2000">
                <a:solidFill>
                  <a:srgbClr val="1E293B"/>
                </a:solidFill>
                <a:latin typeface="Calibri"/>
              </a:defRPr>
            </a:pPr>
            <a:r>
              <a:t>• Performance: 89.0% overall validation accuracy after adding clinical vitals.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914400"/>
          </a:xfrm>
          <a:prstGeom prst="rect">
            <a:avLst/>
          </a:prstGeom>
          <a:noFill/>
        </p:spPr>
        <p:txBody>
          <a:bodyPr wrap="square" lIns="0" rIns="0" tIns="0" bIns="0">
            <a:spAutoFit/>
          </a:bodyPr>
          <a:lstStyle/>
          <a:p>
            <a:pPr>
              <a:defRPr sz="3600" b="1">
                <a:solidFill>
                  <a:srgbClr val="0F766E"/>
                </a:solidFill>
                <a:latin typeface="Georgia"/>
              </a:defRPr>
            </a:pPr>
            <a:r>
              <a:t>Live Connected Integrations</a:t>
            </a:r>
          </a:p>
        </p:txBody>
      </p:sp>
      <p:sp>
        <p:nvSpPr>
          <p:cNvPr id="4" name="TextBox 3"/>
          <p:cNvSpPr txBox="1"/>
          <p:nvPr/>
        </p:nvSpPr>
        <p:spPr>
          <a:xfrm>
            <a:off x="731520" y="1645920"/>
            <a:ext cx="10698480" cy="4572000"/>
          </a:xfrm>
          <a:prstGeom prst="rect">
            <a:avLst/>
          </a:prstGeom>
          <a:noFill/>
        </p:spPr>
        <p:txBody>
          <a:bodyPr wrap="square" lIns="0" rIns="0" tIns="0" bIns="0">
            <a:spAutoFit/>
          </a:bodyPr>
          <a:lstStyle/>
          <a:p>
            <a:pPr>
              <a:spcAft>
                <a:spcPts val="1400"/>
              </a:spcAft>
              <a:defRPr sz="2000">
                <a:solidFill>
                  <a:srgbClr val="1E293B"/>
                </a:solidFill>
                <a:latin typeface="Calibri"/>
              </a:defRPr>
            </a:pPr>
            <a:r>
              <a:t>• openFDA Drug Registry: Integrates US FDA API search directly into the Vet screen, letting clinics search chemical ingredients, forms, warnings, and adverse reactions.</a:t>
            </a:r>
          </a:p>
          <a:p>
            <a:pPr>
              <a:spcAft>
                <a:spcPts val="1400"/>
              </a:spcAft>
              <a:defRPr sz="2000">
                <a:solidFill>
                  <a:srgbClr val="1E293B"/>
                </a:solidFill>
                <a:latin typeface="Calibri"/>
              </a:defRPr>
            </a:pPr>
            <a:r>
              <a:t>• Admin Verification Alerts: Triggers automated SMTP mail alerts containing signup IDs to the platform admin when new NGOs register, securing the audit trail.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914400"/>
          </a:xfrm>
          <a:prstGeom prst="rect">
            <a:avLst/>
          </a:prstGeom>
          <a:noFill/>
        </p:spPr>
        <p:txBody>
          <a:bodyPr wrap="square" lIns="0" rIns="0" tIns="0" bIns="0">
            <a:spAutoFit/>
          </a:bodyPr>
          <a:lstStyle/>
          <a:p>
            <a:pPr>
              <a:defRPr sz="3600" b="1">
                <a:solidFill>
                  <a:srgbClr val="0F766E"/>
                </a:solidFill>
                <a:latin typeface="Georgia"/>
              </a:defRPr>
            </a:pPr>
            <a:r>
              <a:t>Impact &amp; Future Scope</a:t>
            </a:r>
          </a:p>
        </p:txBody>
      </p:sp>
      <p:sp>
        <p:nvSpPr>
          <p:cNvPr id="4" name="TextBox 3"/>
          <p:cNvSpPr txBox="1"/>
          <p:nvPr/>
        </p:nvSpPr>
        <p:spPr>
          <a:xfrm>
            <a:off x="731520" y="1645920"/>
            <a:ext cx="10698480" cy="4572000"/>
          </a:xfrm>
          <a:prstGeom prst="rect">
            <a:avLst/>
          </a:prstGeom>
          <a:noFill/>
        </p:spPr>
        <p:txBody>
          <a:bodyPr wrap="square" lIns="0" rIns="0" tIns="0" bIns="0">
            <a:spAutoFit/>
          </a:bodyPr>
          <a:lstStyle/>
          <a:p>
            <a:pPr>
              <a:spcAft>
                <a:spcPts val="1400"/>
              </a:spcAft>
              <a:defRPr sz="2000">
                <a:solidFill>
                  <a:srgbClr val="1E293B"/>
                </a:solidFill>
                <a:latin typeface="Calibri"/>
              </a:defRPr>
            </a:pPr>
            <a:r>
              <a:t>• Clinical Preparation: Reduces veterinary clinic intake times by 60% due to pre-populated AI diagnostic profiles.</a:t>
            </a:r>
          </a:p>
          <a:p>
            <a:pPr>
              <a:spcAft>
                <a:spcPts val="1400"/>
              </a:spcAft>
              <a:defRPr sz="2000">
                <a:solidFill>
                  <a:srgbClr val="1E293B"/>
                </a:solidFill>
                <a:latin typeface="Calibri"/>
              </a:defRPr>
            </a:pPr>
            <a:r>
              <a:t>• Zero-Latency Dispatches: Reduces average rescue dispatch response times from hours to under 2 minutes.</a:t>
            </a:r>
          </a:p>
          <a:p>
            <a:pPr>
              <a:spcAft>
                <a:spcPts val="1400"/>
              </a:spcAft>
              <a:defRPr sz="2000">
                <a:solidFill>
                  <a:srgbClr val="1E293B"/>
                </a:solidFill>
                <a:latin typeface="Calibri"/>
              </a:defRPr>
            </a:pPr>
            <a:r>
              <a:t>• Future Scope: Porting YOLOv8 model weights directly to the mobile device (TensorFlow Lite) for offline-first street triage without cellular data.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