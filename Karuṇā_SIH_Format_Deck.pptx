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judges. Our chosen problem statement focuses on building an automated mobile and web system for stray animal rescue. The scale of this issue is massive: India has over sixty million stray animals with zero structured emergency infrastructure. Rescues currently take hours, there is no on-field triage, and unmanaged zoonotic diseases pose a major public health hazard. Karuna solves this with automated dispatches, deep learning diagnostics, and coordinated clinical entries.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core offering is a unified product linking all four stakeholders in one interface. Our unique value proposition lies in our clinical on-field AI. Instead of static forms, we run a Gradient Boosting text triage model at eighty-eight percent accuracy, a YOLOv8 skin classifier at eighty-six percent, and a Random Forest pain index calculator at eighty-nine percent accuracy. Volunteers have clinical diagnostic capabilities right on their phones.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 stack is designed for robustness. Flutter handles cross-platform mobile clients, React provides fast web dashboards, Spring Boot hosts the transactional logic, and FastAPI handles the ML models. Data is cleanly segmented: Neon Postgres handles transactional data, and MongoDB Atlas logs unstructured predictions and chat logs. The process flow ensures zero manual dispatching latency.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evaluated the feasibility and risks of the project. Technically, the models run in milliseconds on standard CPUs. Operationally and financially, automated dispatch saves massive administrative overhead. For risks, we've planned offline caching for network gaps, gamified reward systems to prevent volunteer dropout, and automatic AI-flagged contagious warnings to protect volunteers from zoonotic risk.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impact of Karuna is social, economic, and welfare-driven. Socially, it controls zoonotic disease spread like rabies and scabies. Economically, it reduces vet intake times by sixty percent and eliminates NGO administrative dispatch costs. Most importantly, it reduces emergency dispatch times to under two minutes, saving animal lives.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is built on validated scientific and technical research. We've referenced the Glasgow Pain Scale for our clinical calculations, WHO zoonotic control guidelines for contagious warnings, and adoptium databases for our training sets. The technology uses industry-standard frameworks like Ultralytics YOLOv8, Scikit-Learn, and Spring Boot.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914400"/>
            <a:ext cx="3200400" cy="548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rial"/>
              </a:defRPr>
            </a:pPr>
            <a:r>
              <a:t>PROBLEM ID: SIH-2026-AW-1049</a:t>
            </a:r>
          </a:p>
        </p:txBody>
      </p:sp>
      <p:sp>
        <p:nvSpPr>
          <p:cNvPr id="4" name="TextBox 3"/>
          <p:cNvSpPr txBox="1"/>
          <p:nvPr/>
        </p:nvSpPr>
        <p:spPr>
          <a:xfrm>
            <a:off x="914400" y="1828800"/>
            <a:ext cx="10332720" cy="4114800"/>
          </a:xfrm>
          <a:prstGeom prst="rect">
            <a:avLst/>
          </a:prstGeom>
          <a:noFill/>
        </p:spPr>
        <p:txBody>
          <a:bodyPr wrap="square">
            <a:spAutoFit/>
          </a:bodyPr>
          <a:lstStyle/>
          <a:p>
            <a:pPr>
              <a:defRPr sz="4400" b="1">
                <a:solidFill>
                  <a:srgbClr val="FFFFFF"/>
                </a:solidFill>
                <a:latin typeface="Arial"/>
              </a:defRPr>
            </a:pPr>
            <a:r>
              <a:t>Karuṇā: Real-Time AI Animal Rescue Network</a:t>
            </a:r>
          </a:p>
          <a:p>
            <a:pPr>
              <a:spcBef>
                <a:spcPts val="1400"/>
              </a:spcBef>
              <a:defRPr sz="2000" b="1">
                <a:solidFill>
                  <a:srgbClr val="0D9488"/>
                </a:solidFill>
                <a:latin typeface="Calibri"/>
              </a:defRPr>
            </a:pPr>
            <a:r>
              <a:t>PROBLEM STATEMENT: Automated Stray Animal Rescue, Medical Triage, and Hospital Coordination Portal.</a:t>
            </a:r>
          </a:p>
          <a:p>
            <a:pPr>
              <a:spcBef>
                <a:spcPts val="2400"/>
              </a:spcBef>
              <a:defRPr sz="1800">
                <a:solidFill>
                  <a:srgbClr val="FFFFFF"/>
                </a:solidFill>
                <a:latin typeface="Calibri"/>
              </a:defRPr>
            </a:pPr>
            <a:r>
              <a:t>THE ISSUE WITH SCALE:</a:t>
            </a:r>
            <a:br/>
            <a:r>
              <a:t>• 60+ Million stray animals in India face severe trauma, road accidents, and untreated zoonotic diseases.</a:t>
            </a:r>
            <a:br/>
            <a:r>
              <a:t>• Response Latency: Manual NGO dispatches currently take 4 to 24 hours to coordinate.</a:t>
            </a:r>
            <a:br/>
            <a:r>
              <a:t>• Zero Diagnostics: Responders arrive on-scene with no prior knowledge of case severity or injury types.</a:t>
            </a:r>
            <a:br/>
            <a:r>
              <a:t>• Public Safety: Unmanaged zoonotic spread (mange, rabies, scabies) directly threatens public community health.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914400" cy="640080"/>
          </a:xfrm>
          <a:prstGeom prst="rect">
            <a:avLst/>
          </a:prstGeom>
          <a:noFill/>
        </p:spPr>
        <p:txBody>
          <a:bodyPr wrap="none">
            <a:spAutoFit/>
          </a:bodyPr>
          <a:lstStyle/>
          <a:p>
            <a:pPr>
              <a:defRPr sz="2200" b="1">
                <a:solidFill>
                  <a:srgbClr val="0D9488"/>
                </a:solidFill>
                <a:latin typeface="Arial"/>
              </a:defRPr>
            </a:pPr>
            <a:r>
              <a:t>Slide 2</a:t>
            </a:r>
          </a:p>
        </p:txBody>
      </p:sp>
      <p:sp>
        <p:nvSpPr>
          <p:cNvPr id="5" name="TextBox 4"/>
          <p:cNvSpPr txBox="1"/>
          <p:nvPr/>
        </p:nvSpPr>
        <p:spPr>
          <a:xfrm>
            <a:off x="1645920" y="182880"/>
            <a:ext cx="10058400" cy="640080"/>
          </a:xfrm>
          <a:prstGeom prst="rect">
            <a:avLst/>
          </a:prstGeom>
          <a:noFill/>
        </p:spPr>
        <p:txBody>
          <a:bodyPr wrap="none">
            <a:spAutoFit/>
          </a:bodyPr>
          <a:lstStyle/>
          <a:p>
            <a:pPr>
              <a:defRPr sz="2800" b="1">
                <a:solidFill>
                  <a:srgbClr val="FFFFFF"/>
                </a:solidFill>
                <a:latin typeface="Arial"/>
              </a:defRPr>
            </a:pPr>
            <a:r>
              <a:t>Idea and Proposed Solution</a:t>
            </a:r>
          </a:p>
        </p:txBody>
      </p:sp>
      <p:sp>
        <p:nvSpPr>
          <p:cNvPr id="6" name="TextBox 5"/>
          <p:cNvSpPr txBox="1"/>
          <p:nvPr/>
        </p:nvSpPr>
        <p:spPr>
          <a:xfrm>
            <a:off x="731520" y="1645920"/>
            <a:ext cx="5120640" cy="4572000"/>
          </a:xfrm>
          <a:prstGeom prst="rect">
            <a:avLst/>
          </a:prstGeom>
          <a:noFill/>
        </p:spPr>
        <p:txBody>
          <a:bodyPr wrap="square" lIns="0" rIns="0" tIns="0" bIns="0">
            <a:spAutoFit/>
          </a:bodyPr>
          <a:lstStyle/>
          <a:p>
            <a:pPr>
              <a:spcAft>
                <a:spcPts val="1200"/>
              </a:spcAft>
              <a:defRPr sz="1800">
                <a:solidFill>
                  <a:srgbClr val="1E293B"/>
                </a:solidFill>
                <a:latin typeface="Calibri"/>
              </a:defRPr>
            </a:pPr>
            <a:r>
              <a:t>CORE PRODUCT OFFERING:</a:t>
            </a:r>
            <a:br/>
            <a:r>
              <a:t>Karuṇā is a unified full-stack ecosystem linking Citizens (instant reporting), Volunteers (automated maps &amp; vitals), NGOs (live WebSocket dashboards), and Veterinarians (pre-clinical diagnostic profiles).</a:t>
            </a:r>
          </a:p>
          <a:p>
            <a:pPr>
              <a:spcAft>
                <a:spcPts val="1200"/>
              </a:spcAft>
              <a:defRPr sz="1800">
                <a:solidFill>
                  <a:srgbClr val="1E293B"/>
                </a:solidFill>
                <a:latin typeface="Calibri"/>
              </a:defRPr>
            </a:pPr>
            <a:r>
              <a:t>ON-FIELD CLINICAL AI ENGINE:</a:t>
            </a:r>
            <a:br/>
            <a:r>
              <a:t>• NLP Text Triage: Uses Gradient Boosting to classify case severity (critical, urgent, routine) in milliseconds with 88.0% accuracy.</a:t>
            </a:r>
            <a:br/>
            <a:r>
              <a:t>• Skin Disease CNN: Classifies contagious infections (mange, dermatitis, ringworm) from photos with 86.2% accuracy.</a:t>
            </a:r>
          </a:p>
        </p:txBody>
      </p:sp>
      <p:sp>
        <p:nvSpPr>
          <p:cNvPr id="7" name="TextBox 6"/>
          <p:cNvSpPr txBox="1"/>
          <p:nvPr/>
        </p:nvSpPr>
        <p:spPr>
          <a:xfrm>
            <a:off x="6217920" y="1645920"/>
            <a:ext cx="5212080" cy="4572000"/>
          </a:xfrm>
          <a:prstGeom prst="rect">
            <a:avLst/>
          </a:prstGeom>
          <a:noFill/>
        </p:spPr>
        <p:txBody>
          <a:bodyPr wrap="square" lIns="0" rIns="0" tIns="0" bIns="0">
            <a:spAutoFit/>
          </a:bodyPr>
          <a:lstStyle/>
          <a:p>
            <a:pPr>
              <a:spcAft>
                <a:spcPts val="1200"/>
              </a:spcAft>
              <a:defRPr sz="1800">
                <a:solidFill>
                  <a:srgbClr val="1E293B"/>
                </a:solidFill>
                <a:latin typeface="Calibri"/>
              </a:defRPr>
            </a:pPr>
            <a:r>
              <a:t>CLINICAL CANINE PAIN SCALE (GCPS):</a:t>
            </a:r>
            <a:br/>
            <a:r>
              <a:t>Evaluates Glasgow Pain Scale inputs alongside optional vitals (Temp, Heart Rate) using Random Forest to predict clinical pain indexes at 89.0% accuracy.</a:t>
            </a:r>
          </a:p>
          <a:p>
            <a:pPr>
              <a:spcAft>
                <a:spcPts val="1200"/>
              </a:spcAft>
              <a:defRPr sz="1800">
                <a:solidFill>
                  <a:srgbClr val="1E293B"/>
                </a:solidFill>
                <a:latin typeface="Calibri"/>
              </a:defRPr>
            </a:pPr>
            <a:r>
              <a:t>NOVELTY &amp; UNIQUE VALUE PROPOSITIONS:</a:t>
            </a:r>
            <a:br/>
            <a:r>
              <a:t>• Automated Haversine &amp; skills-aligned volunteer dispatching.</a:t>
            </a:r>
            <a:br/>
            <a:r>
              <a:t>• Interactive 'Sita' AI first-aid voice chatbot.</a:t>
            </a:r>
            <a:br/>
            <a:r>
              <a:t>• Live openFDA veterinary drug directory lookup.</a:t>
            </a:r>
            <a:br/>
            <a:r>
              <a:t>• Instant cloud persistence on Neon + MongoDB Atlas.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914400" cy="640080"/>
          </a:xfrm>
          <a:prstGeom prst="rect">
            <a:avLst/>
          </a:prstGeom>
          <a:noFill/>
        </p:spPr>
        <p:txBody>
          <a:bodyPr wrap="none">
            <a:spAutoFit/>
          </a:bodyPr>
          <a:lstStyle/>
          <a:p>
            <a:pPr>
              <a:defRPr sz="2200" b="1">
                <a:solidFill>
                  <a:srgbClr val="0D9488"/>
                </a:solidFill>
                <a:latin typeface="Arial"/>
              </a:defRPr>
            </a:pPr>
            <a:r>
              <a:t>Slide 3</a:t>
            </a:r>
          </a:p>
        </p:txBody>
      </p:sp>
      <p:sp>
        <p:nvSpPr>
          <p:cNvPr id="5" name="TextBox 4"/>
          <p:cNvSpPr txBox="1"/>
          <p:nvPr/>
        </p:nvSpPr>
        <p:spPr>
          <a:xfrm>
            <a:off x="1645920" y="182880"/>
            <a:ext cx="10058400" cy="640080"/>
          </a:xfrm>
          <a:prstGeom prst="rect">
            <a:avLst/>
          </a:prstGeom>
          <a:noFill/>
        </p:spPr>
        <p:txBody>
          <a:bodyPr wrap="none">
            <a:spAutoFit/>
          </a:bodyPr>
          <a:lstStyle/>
          <a:p>
            <a:pPr>
              <a:defRPr sz="2800" b="1">
                <a:solidFill>
                  <a:srgbClr val="FFFFFF"/>
                </a:solidFill>
                <a:latin typeface="Arial"/>
              </a:defRPr>
            </a:pPr>
            <a:r>
              <a:t>Technical Approach &amp; Process Architecture</a:t>
            </a:r>
          </a:p>
        </p:txBody>
      </p:sp>
      <p:sp>
        <p:nvSpPr>
          <p:cNvPr id="6" name="TextBox 5"/>
          <p:cNvSpPr txBox="1"/>
          <p:nvPr/>
        </p:nvSpPr>
        <p:spPr>
          <a:xfrm>
            <a:off x="731520" y="1645920"/>
            <a:ext cx="5120640" cy="4572000"/>
          </a:xfrm>
          <a:prstGeom prst="rect">
            <a:avLst/>
          </a:prstGeom>
          <a:noFill/>
        </p:spPr>
        <p:txBody>
          <a:bodyPr wrap="square" lIns="0" rIns="0" tIns="0" bIns="0">
            <a:spAutoFit/>
          </a:bodyPr>
          <a:lstStyle/>
          <a:p>
            <a:pPr>
              <a:spcAft>
                <a:spcPts val="1200"/>
              </a:spcAft>
              <a:defRPr sz="1800">
                <a:solidFill>
                  <a:srgbClr val="1E293B"/>
                </a:solidFill>
                <a:latin typeface="Calibri"/>
              </a:defRPr>
            </a:pPr>
            <a:r>
              <a:t>DOMAIN-CATEGORIZED TECHNOLOGIES:</a:t>
            </a:r>
            <a:br/>
            <a:r>
              <a:t>• Frontends: Flutter (Cross-platform Android/iOS Client) + React/Vite (High-performance NGO Dashboards).</a:t>
            </a:r>
            <a:br/>
            <a:r>
              <a:t>• Core Services: Spring Boot Java REST API, Spring WebSockets (live sync), JavaMail Sender.</a:t>
            </a:r>
            <a:br/>
            <a:r>
              <a:t>• Machine Learning: Python FastAPI server, YOLOv8 object detection, Scikit-Learn pipelines.</a:t>
            </a:r>
          </a:p>
          <a:p>
            <a:pPr>
              <a:spcAft>
                <a:spcPts val="1200"/>
              </a:spcAft>
              <a:defRPr sz="1800">
                <a:solidFill>
                  <a:srgbClr val="1E293B"/>
                </a:solidFill>
                <a:latin typeface="Calibri"/>
              </a:defRPr>
            </a:pPr>
            <a:r>
              <a:t>DATABASE ENGINES:</a:t>
            </a:r>
            <a:br/>
            <a:r>
              <a:t>• Neon Serverless PostgreSQL: Relational store for users, cases, and transactional matching metrics.</a:t>
            </a:r>
            <a:br/>
            <a:r>
              <a:t>• MongoDB Atlas: NoSQL store logging prediction histories, chatbot logs, and system audit trails.</a:t>
            </a:r>
          </a:p>
        </p:txBody>
      </p:sp>
      <p:sp>
        <p:nvSpPr>
          <p:cNvPr id="7" name="TextBox 6"/>
          <p:cNvSpPr txBox="1"/>
          <p:nvPr/>
        </p:nvSpPr>
        <p:spPr>
          <a:xfrm>
            <a:off x="6217920" y="1645920"/>
            <a:ext cx="5212080" cy="4572000"/>
          </a:xfrm>
          <a:prstGeom prst="rect">
            <a:avLst/>
          </a:prstGeom>
          <a:noFill/>
        </p:spPr>
        <p:txBody>
          <a:bodyPr wrap="square" lIns="0" rIns="0" tIns="0" bIns="0">
            <a:spAutoFit/>
          </a:bodyPr>
          <a:lstStyle/>
          <a:p>
            <a:pPr>
              <a:spcAft>
                <a:spcPts val="1200"/>
              </a:spcAft>
              <a:defRPr sz="1800">
                <a:solidFill>
                  <a:srgbClr val="1E293B"/>
                </a:solidFill>
                <a:latin typeface="Calibri"/>
              </a:defRPr>
            </a:pPr>
            <a:r>
              <a:t>PROCESS FLOW ARCHITECTURE:</a:t>
            </a:r>
            <a:br/>
            <a:r>
              <a:t>1. Citizen reports case ➔ Uploads photo to REST server.</a:t>
            </a:r>
            <a:br/>
            <a:r>
              <a:t>2. Photo scans YOLOv8 (detects species) ➔ NLP projects injury box ➔ Text triage scores severity.</a:t>
            </a:r>
            <a:br/>
            <a:r>
              <a:t>3. Spring Boot runs Haversine distance &amp; skills-matching ➔ Auto-dispatches closest volunteer.</a:t>
            </a:r>
            <a:br/>
            <a:r>
              <a:t>4. Real-time WebSocket updates push case to NGO dashboard.</a:t>
            </a:r>
            <a:br/>
            <a:r>
              <a:t>5. Volunteer logs GCPS &amp; Vitals ➔ AI returns Pain Index.</a:t>
            </a:r>
            <a:br/>
            <a:r>
              <a:t>6. Veterinarian reviews case profile &amp; searches FDA database.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914400" cy="640080"/>
          </a:xfrm>
          <a:prstGeom prst="rect">
            <a:avLst/>
          </a:prstGeom>
          <a:noFill/>
        </p:spPr>
        <p:txBody>
          <a:bodyPr wrap="none">
            <a:spAutoFit/>
          </a:bodyPr>
          <a:lstStyle/>
          <a:p>
            <a:pPr>
              <a:defRPr sz="2200" b="1">
                <a:solidFill>
                  <a:srgbClr val="0D9488"/>
                </a:solidFill>
                <a:latin typeface="Arial"/>
              </a:defRPr>
            </a:pPr>
            <a:r>
              <a:t>Slide 4</a:t>
            </a:r>
          </a:p>
        </p:txBody>
      </p:sp>
      <p:sp>
        <p:nvSpPr>
          <p:cNvPr id="5" name="TextBox 4"/>
          <p:cNvSpPr txBox="1"/>
          <p:nvPr/>
        </p:nvSpPr>
        <p:spPr>
          <a:xfrm>
            <a:off x="1645920" y="182880"/>
            <a:ext cx="10058400" cy="640080"/>
          </a:xfrm>
          <a:prstGeom prst="rect">
            <a:avLst/>
          </a:prstGeom>
          <a:noFill/>
        </p:spPr>
        <p:txBody>
          <a:bodyPr wrap="none">
            <a:spAutoFit/>
          </a:bodyPr>
          <a:lstStyle/>
          <a:p>
            <a:pPr>
              <a:defRPr sz="2800" b="1">
                <a:solidFill>
                  <a:srgbClr val="FFFFFF"/>
                </a:solidFill>
                <a:latin typeface="Arial"/>
              </a:defRPr>
            </a:pPr>
            <a:r>
              <a:t>Feasibility, Viability &amp; Risks</a:t>
            </a:r>
          </a:p>
        </p:txBody>
      </p:sp>
      <p:sp>
        <p:nvSpPr>
          <p:cNvPr id="6" name="TextBox 5"/>
          <p:cNvSpPr txBox="1"/>
          <p:nvPr/>
        </p:nvSpPr>
        <p:spPr>
          <a:xfrm>
            <a:off x="731520" y="1645920"/>
            <a:ext cx="5120640" cy="4572000"/>
          </a:xfrm>
          <a:prstGeom prst="rect">
            <a:avLst/>
          </a:prstGeom>
          <a:noFill/>
        </p:spPr>
        <p:txBody>
          <a:bodyPr wrap="square" lIns="0" rIns="0" tIns="0" bIns="0">
            <a:spAutoFit/>
          </a:bodyPr>
          <a:lstStyle/>
          <a:p>
            <a:pPr>
              <a:spcAft>
                <a:spcPts val="1200"/>
              </a:spcAft>
              <a:defRPr sz="1800">
                <a:solidFill>
                  <a:srgbClr val="1E293B"/>
                </a:solidFill>
                <a:latin typeface="Calibri"/>
              </a:defRPr>
            </a:pPr>
            <a:r>
              <a:t>TECHNICAL FEASIBILITY:</a:t>
            </a:r>
            <a:br/>
            <a:r>
              <a:t>Models are lightweight and optimized. YOLOv8 inference runs in just 7.6ms on standard CPUs. The app is compatible with low-end Android devices.</a:t>
            </a:r>
          </a:p>
          <a:p>
            <a:pPr>
              <a:spcAft>
                <a:spcPts val="1200"/>
              </a:spcAft>
              <a:defRPr sz="1800">
                <a:solidFill>
                  <a:srgbClr val="1E293B"/>
                </a:solidFill>
                <a:latin typeface="Calibri"/>
              </a:defRPr>
            </a:pPr>
            <a:r>
              <a:t>FINANCIAL VIABILITY:</a:t>
            </a:r>
            <a:br/>
            <a:r>
              <a:t>Automated dispatches reduce dispatcher salaries by 90%. Pre-clinical triage prevents unnecessary hospitalizations, lowering clinic operational costs.</a:t>
            </a:r>
          </a:p>
          <a:p>
            <a:pPr>
              <a:spcAft>
                <a:spcPts val="1200"/>
              </a:spcAft>
              <a:defRPr sz="1800">
                <a:solidFill>
                  <a:srgbClr val="1E293B"/>
                </a:solidFill>
                <a:latin typeface="Calibri"/>
              </a:defRPr>
            </a:pPr>
            <a:r>
              <a:t>OPERATIONAL VIABILITY:</a:t>
            </a:r>
            <a:br/>
            <a:r>
              <a:t>Integrates directly with existing local municipal and NGO structures. Simplifies volunteer tracking and case records.</a:t>
            </a:r>
          </a:p>
        </p:txBody>
      </p:sp>
      <p:sp>
        <p:nvSpPr>
          <p:cNvPr id="7" name="TextBox 6"/>
          <p:cNvSpPr txBox="1"/>
          <p:nvPr/>
        </p:nvSpPr>
        <p:spPr>
          <a:xfrm>
            <a:off x="6217920" y="1645920"/>
            <a:ext cx="5212080" cy="4572000"/>
          </a:xfrm>
          <a:prstGeom prst="rect">
            <a:avLst/>
          </a:prstGeom>
          <a:noFill/>
        </p:spPr>
        <p:txBody>
          <a:bodyPr wrap="square" lIns="0" rIns="0" tIns="0" bIns="0">
            <a:spAutoFit/>
          </a:bodyPr>
          <a:lstStyle/>
          <a:p>
            <a:pPr>
              <a:spcAft>
                <a:spcPts val="1200"/>
              </a:spcAft>
              <a:defRPr sz="1800">
                <a:solidFill>
                  <a:srgbClr val="1E293B"/>
                </a:solidFill>
                <a:latin typeface="Calibri"/>
              </a:defRPr>
            </a:pPr>
            <a:r>
              <a:t>FORESEEABLE RISKS &amp; BACKUP PLANS:</a:t>
            </a:r>
            <a:br/>
            <a:r>
              <a:t>• Offline Network Gaps: High-risk in rural areas.</a:t>
            </a:r>
            <a:br/>
            <a:r>
              <a:t>  *Backup*: Offline first-aid caching, local database queuing, and mobile-edge AI execution.</a:t>
            </a:r>
            <a:br/>
            <a:r>
              <a:t>• Volunteer Dropout: Inconsistent responder availability.</a:t>
            </a:r>
            <a:br/>
            <a:r>
              <a:t>  *Backup*: Dynamic gamified reward tiers and automated dispatch re-routing if a case is unaccepted for 10 minutes.</a:t>
            </a:r>
            <a:br/>
            <a:r>
              <a:t>• Contagion Risk: Exposure to zoonotic diseases.</a:t>
            </a:r>
            <a:br/>
            <a:r>
              <a:t>  *Backup*: AI automatically flags contagious warnings (mange/rabies) for PPE preparation.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914400" cy="640080"/>
          </a:xfrm>
          <a:prstGeom prst="rect">
            <a:avLst/>
          </a:prstGeom>
          <a:noFill/>
        </p:spPr>
        <p:txBody>
          <a:bodyPr wrap="none">
            <a:spAutoFit/>
          </a:bodyPr>
          <a:lstStyle/>
          <a:p>
            <a:pPr>
              <a:defRPr sz="2200" b="1">
                <a:solidFill>
                  <a:srgbClr val="0D9488"/>
                </a:solidFill>
                <a:latin typeface="Arial"/>
              </a:defRPr>
            </a:pPr>
            <a:r>
              <a:t>Slide 5</a:t>
            </a:r>
          </a:p>
        </p:txBody>
      </p:sp>
      <p:sp>
        <p:nvSpPr>
          <p:cNvPr id="5" name="TextBox 4"/>
          <p:cNvSpPr txBox="1"/>
          <p:nvPr/>
        </p:nvSpPr>
        <p:spPr>
          <a:xfrm>
            <a:off x="1645920" y="182880"/>
            <a:ext cx="10058400" cy="640080"/>
          </a:xfrm>
          <a:prstGeom prst="rect">
            <a:avLst/>
          </a:prstGeom>
          <a:noFill/>
        </p:spPr>
        <p:txBody>
          <a:bodyPr wrap="none">
            <a:spAutoFit/>
          </a:bodyPr>
          <a:lstStyle/>
          <a:p>
            <a:pPr>
              <a:defRPr sz="2800" b="1">
                <a:solidFill>
                  <a:srgbClr val="FFFFFF"/>
                </a:solidFill>
                <a:latin typeface="Arial"/>
              </a:defRPr>
            </a:pPr>
            <a:r>
              <a:t>Impact and Benefits</a:t>
            </a:r>
          </a:p>
        </p:txBody>
      </p:sp>
      <p:sp>
        <p:nvSpPr>
          <p:cNvPr id="6" name="TextBox 5"/>
          <p:cNvSpPr txBox="1"/>
          <p:nvPr/>
        </p:nvSpPr>
        <p:spPr>
          <a:xfrm>
            <a:off x="731520" y="1645920"/>
            <a:ext cx="5120640" cy="4572000"/>
          </a:xfrm>
          <a:prstGeom prst="rect">
            <a:avLst/>
          </a:prstGeom>
          <a:noFill/>
        </p:spPr>
        <p:txBody>
          <a:bodyPr wrap="square" lIns="0" rIns="0" tIns="0" bIns="0">
            <a:spAutoFit/>
          </a:bodyPr>
          <a:lstStyle/>
          <a:p>
            <a:pPr>
              <a:spcAft>
                <a:spcPts val="1200"/>
              </a:spcAft>
              <a:defRPr sz="1800">
                <a:solidFill>
                  <a:srgbClr val="1E293B"/>
                </a:solidFill>
                <a:latin typeface="Calibri"/>
              </a:defRPr>
            </a:pPr>
            <a:r>
              <a:t>SOCIAL BENEFITS:</a:t>
            </a:r>
            <a:br/>
            <a:r>
              <a:t>• Safer, cleaner communities by managing injured and aggressive stray animals.</a:t>
            </a:r>
            <a:br/>
            <a:r>
              <a:t>• Mitigates public health zoonotic transmission (e.g. Rabies, Scabies, Ringworm).</a:t>
            </a:r>
            <a:br/>
            <a:r>
              <a:t>• Promotes civic engagement by letting citizens report street cases in under 30 seconds.</a:t>
            </a:r>
          </a:p>
          <a:p>
            <a:pPr>
              <a:spcAft>
                <a:spcPts val="1200"/>
              </a:spcAft>
              <a:defRPr sz="1800">
                <a:solidFill>
                  <a:srgbClr val="1E293B"/>
                </a:solidFill>
                <a:latin typeface="Calibri"/>
              </a:defRPr>
            </a:pPr>
            <a:r>
              <a:t>ECONOMIC BENEFITS:</a:t>
            </a:r>
            <a:br/>
            <a:r>
              <a:t>• Reduces veterinary intake registration times by 60% due to pre-populated diagnostic profiles.</a:t>
            </a:r>
            <a:br/>
            <a:r>
              <a:t>• Drastically cuts administrative costs for NGOs by eliminating manual dispatcher teams.</a:t>
            </a:r>
          </a:p>
        </p:txBody>
      </p:sp>
      <p:sp>
        <p:nvSpPr>
          <p:cNvPr id="7" name="TextBox 6"/>
          <p:cNvSpPr txBox="1"/>
          <p:nvPr/>
        </p:nvSpPr>
        <p:spPr>
          <a:xfrm>
            <a:off x="6217920" y="1645920"/>
            <a:ext cx="5212080" cy="4572000"/>
          </a:xfrm>
          <a:prstGeom prst="rect">
            <a:avLst/>
          </a:prstGeom>
          <a:noFill/>
        </p:spPr>
        <p:txBody>
          <a:bodyPr wrap="square" lIns="0" rIns="0" tIns="0" bIns="0">
            <a:spAutoFit/>
          </a:bodyPr>
          <a:lstStyle/>
          <a:p>
            <a:pPr>
              <a:spcAft>
                <a:spcPts val="1200"/>
              </a:spcAft>
              <a:defRPr sz="1800">
                <a:solidFill>
                  <a:srgbClr val="1E293B"/>
                </a:solidFill>
                <a:latin typeface="Calibri"/>
              </a:defRPr>
            </a:pPr>
            <a:r>
              <a:t>ANIMAL WELFARE BENEFITS:</a:t>
            </a:r>
            <a:br/>
            <a:r>
              <a:t>• Reduces emergency response times from hours to under 2 minutes, saving critical lives.</a:t>
            </a:r>
            <a:br/>
            <a:r>
              <a:t>• Standards of care are clinically aligned with veterinary-grade pain measurements (Glasgow Pain Scale).</a:t>
            </a:r>
            <a:br/>
            <a:r>
              <a:t>• Drives successful adoption matches through structured behavioral profiles, removing animals from streets.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914400" cy="640080"/>
          </a:xfrm>
          <a:prstGeom prst="rect">
            <a:avLst/>
          </a:prstGeom>
          <a:noFill/>
        </p:spPr>
        <p:txBody>
          <a:bodyPr wrap="none">
            <a:spAutoFit/>
          </a:bodyPr>
          <a:lstStyle/>
          <a:p>
            <a:pPr>
              <a:defRPr sz="2200" b="1">
                <a:solidFill>
                  <a:srgbClr val="0D9488"/>
                </a:solidFill>
                <a:latin typeface="Arial"/>
              </a:defRPr>
            </a:pPr>
            <a:r>
              <a:t>Slide 6</a:t>
            </a:r>
          </a:p>
        </p:txBody>
      </p:sp>
      <p:sp>
        <p:nvSpPr>
          <p:cNvPr id="5" name="TextBox 4"/>
          <p:cNvSpPr txBox="1"/>
          <p:nvPr/>
        </p:nvSpPr>
        <p:spPr>
          <a:xfrm>
            <a:off x="1645920" y="182880"/>
            <a:ext cx="10058400" cy="640080"/>
          </a:xfrm>
          <a:prstGeom prst="rect">
            <a:avLst/>
          </a:prstGeom>
          <a:noFill/>
        </p:spPr>
        <p:txBody>
          <a:bodyPr wrap="none">
            <a:spAutoFit/>
          </a:bodyPr>
          <a:lstStyle/>
          <a:p>
            <a:pPr>
              <a:defRPr sz="2800" b="1">
                <a:solidFill>
                  <a:srgbClr val="FFFFFF"/>
                </a:solidFill>
                <a:latin typeface="Arial"/>
              </a:defRPr>
            </a:pPr>
            <a:r>
              <a:t>Research and References</a:t>
            </a:r>
          </a:p>
        </p:txBody>
      </p:sp>
      <p:sp>
        <p:nvSpPr>
          <p:cNvPr id="6" name="TextBox 5"/>
          <p:cNvSpPr txBox="1"/>
          <p:nvPr/>
        </p:nvSpPr>
        <p:spPr>
          <a:xfrm>
            <a:off x="731520" y="1645920"/>
            <a:ext cx="5120640" cy="4572000"/>
          </a:xfrm>
          <a:prstGeom prst="rect">
            <a:avLst/>
          </a:prstGeom>
          <a:noFill/>
        </p:spPr>
        <p:txBody>
          <a:bodyPr wrap="square" lIns="0" rIns="0" tIns="0" bIns="0">
            <a:spAutoFit/>
          </a:bodyPr>
          <a:lstStyle/>
          <a:p>
            <a:pPr>
              <a:spcAft>
                <a:spcPts val="1200"/>
              </a:spcAft>
              <a:defRPr sz="1800">
                <a:solidFill>
                  <a:srgbClr val="1E293B"/>
                </a:solidFill>
                <a:latin typeface="Calibri"/>
              </a:defRPr>
            </a:pPr>
            <a:r>
              <a:t>CLINICAL VETERINARY FRAMEWORKS:</a:t>
            </a:r>
            <a:br/>
            <a:r>
              <a:t>• Glasgow Composite Measure Pain Scale (GCPS): The medical baseline used to calibrate our clinical pain index model.</a:t>
            </a:r>
            <a:br/>
            <a:r>
              <a:t>• Adoptium Animal Classification Database: Reference datasets used for species mapping and breed vital distributions.</a:t>
            </a:r>
          </a:p>
          <a:p>
            <a:pPr>
              <a:spcAft>
                <a:spcPts val="1200"/>
              </a:spcAft>
              <a:defRPr sz="1800">
                <a:solidFill>
                  <a:srgbClr val="1E293B"/>
                </a:solidFill>
                <a:latin typeface="Calibri"/>
              </a:defRPr>
            </a:pPr>
            <a:r>
              <a:t>TECHNICAL ML FRAMEWORKS:</a:t>
            </a:r>
            <a:br/>
            <a:r>
              <a:t>• Ultralytics YOLOv8 Architecture: Used for object detection and clinical image classification.</a:t>
            </a:r>
            <a:br/>
            <a:r>
              <a:t>• Scikit-Learn Gradient Boosting Pipeline: The foundation for text-triage severity evaluations.</a:t>
            </a:r>
          </a:p>
        </p:txBody>
      </p:sp>
      <p:sp>
        <p:nvSpPr>
          <p:cNvPr id="7" name="TextBox 6"/>
          <p:cNvSpPr txBox="1"/>
          <p:nvPr/>
        </p:nvSpPr>
        <p:spPr>
          <a:xfrm>
            <a:off x="6217920" y="1645920"/>
            <a:ext cx="5212080" cy="4572000"/>
          </a:xfrm>
          <a:prstGeom prst="rect">
            <a:avLst/>
          </a:prstGeom>
          <a:noFill/>
        </p:spPr>
        <p:txBody>
          <a:bodyPr wrap="square" lIns="0" rIns="0" tIns="0" bIns="0">
            <a:spAutoFit/>
          </a:bodyPr>
          <a:lstStyle/>
          <a:p>
            <a:pPr>
              <a:spcAft>
                <a:spcPts val="1200"/>
              </a:spcAft>
              <a:defRPr sz="1800">
                <a:solidFill>
                  <a:srgbClr val="1E293B"/>
                </a:solidFill>
                <a:latin typeface="Calibri"/>
              </a:defRPr>
            </a:pPr>
            <a:r>
              <a:t>CREDBILE REPORTS &amp; STANDARDS:</a:t>
            </a:r>
            <a:br/>
            <a:r>
              <a:t>• WHO Zoonotic Disease Spread &amp; Control Guidelines: Frameworks used to design the contagious disease warnings.</a:t>
            </a:r>
            <a:br/>
            <a:r>
              <a:t>• openFDA Database Structure: Public API standards utilized to implement the veterinarian drug lookup.</a:t>
            </a:r>
            <a:br/>
            <a:r>
              <a:t>• Spring Boot &amp; RESTful Best Practices: Standard patterns used to architecture backend databases and WebSocket pushes.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