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Trispace ExtraBold"/>
      <p:bold r:id="rId16"/>
    </p:embeddedFont>
    <p:embeddedFont>
      <p:font typeface="Trispace SemiBold"/>
      <p:regular r:id="rId17"/>
      <p:bold r:id="rId18"/>
    </p:embeddedFont>
    <p:embeddedFont>
      <p:font typeface="Maven Pro SemiBold"/>
      <p:regular r:id="rId19"/>
      <p:bold r:id="rId20"/>
    </p:embeddedFont>
    <p:embeddedFont>
      <p:font typeface="Trispace"/>
      <p:regular r:id="rId21"/>
      <p:bold r:id="rId22"/>
    </p:embeddedFont>
    <p:embeddedFont>
      <p:font typeface="Bebas Neue"/>
      <p:regular r:id="rId23"/>
    </p:embeddedFont>
    <p:embeddedFont>
      <p:font typeface="Maven Pro"/>
      <p:regular r:id="rId24"/>
      <p:bold r:id="rId25"/>
    </p:embeddedFont>
    <p:embeddedFont>
      <p:font typeface="Lora"/>
      <p:regular r:id="rId26"/>
      <p:bold r:id="rId27"/>
      <p:italic r:id="rId28"/>
      <p:boldItalic r:id="rId29"/>
    </p:embeddedFont>
    <p:embeddedFont>
      <p:font typeface="PT Sans"/>
      <p:regular r:id="rId30"/>
      <p:bold r:id="rId31"/>
      <p:italic r:id="rId32"/>
      <p:boldItalic r:id="rId33"/>
    </p:embeddedFont>
    <p:embeddedFont>
      <p:font typeface="Dancing Script"/>
      <p:regular r:id="rId34"/>
      <p:bold r:id="rId35"/>
    </p:embeddedFont>
    <p:embeddedFont>
      <p:font typeface="Trispace Light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70106C-105A-4063-AE37-8F5F9AD3ACE3}">
  <a:tblStyle styleId="{9A70106C-105A-4063-AE37-8F5F9AD3ACE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SemiBold-bold.fntdata"/><Relationship Id="rId22" Type="http://schemas.openxmlformats.org/officeDocument/2006/relationships/font" Target="fonts/Trispace-bold.fntdata"/><Relationship Id="rId21" Type="http://schemas.openxmlformats.org/officeDocument/2006/relationships/font" Target="fonts/Trispace-regular.fntdata"/><Relationship Id="rId24" Type="http://schemas.openxmlformats.org/officeDocument/2006/relationships/font" Target="fonts/MavenPro-regular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ora-regular.fntdata"/><Relationship Id="rId25" Type="http://schemas.openxmlformats.org/officeDocument/2006/relationships/font" Target="fonts/MavenPro-bold.fntdata"/><Relationship Id="rId28" Type="http://schemas.openxmlformats.org/officeDocument/2006/relationships/font" Target="fonts/Lora-italic.fntdata"/><Relationship Id="rId27" Type="http://schemas.openxmlformats.org/officeDocument/2006/relationships/font" Target="fonts/Lor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or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TSans-bold.fntdata"/><Relationship Id="rId30" Type="http://schemas.openxmlformats.org/officeDocument/2006/relationships/font" Target="fonts/PTSans-regular.fntdata"/><Relationship Id="rId11" Type="http://schemas.openxmlformats.org/officeDocument/2006/relationships/slide" Target="slides/slide5.xml"/><Relationship Id="rId33" Type="http://schemas.openxmlformats.org/officeDocument/2006/relationships/font" Target="fonts/PTSans-boldItalic.fntdata"/><Relationship Id="rId10" Type="http://schemas.openxmlformats.org/officeDocument/2006/relationships/slide" Target="slides/slide4.xml"/><Relationship Id="rId32" Type="http://schemas.openxmlformats.org/officeDocument/2006/relationships/font" Target="fonts/PTSans-italic.fntdata"/><Relationship Id="rId13" Type="http://schemas.openxmlformats.org/officeDocument/2006/relationships/slide" Target="slides/slide7.xml"/><Relationship Id="rId35" Type="http://schemas.openxmlformats.org/officeDocument/2006/relationships/font" Target="fonts/DancingScript-bold.fntdata"/><Relationship Id="rId12" Type="http://schemas.openxmlformats.org/officeDocument/2006/relationships/slide" Target="slides/slide6.xml"/><Relationship Id="rId34" Type="http://schemas.openxmlformats.org/officeDocument/2006/relationships/font" Target="fonts/DancingScript-regular.fntdata"/><Relationship Id="rId15" Type="http://schemas.openxmlformats.org/officeDocument/2006/relationships/slide" Target="slides/slide9.xml"/><Relationship Id="rId37" Type="http://schemas.openxmlformats.org/officeDocument/2006/relationships/font" Target="fonts/TrispaceLight-bold.fntdata"/><Relationship Id="rId14" Type="http://schemas.openxmlformats.org/officeDocument/2006/relationships/slide" Target="slides/slide8.xml"/><Relationship Id="rId36" Type="http://schemas.openxmlformats.org/officeDocument/2006/relationships/font" Target="fonts/TrispaceLight-regular.fntdata"/><Relationship Id="rId17" Type="http://schemas.openxmlformats.org/officeDocument/2006/relationships/font" Target="fonts/TrispaceSemiBold-regular.fntdata"/><Relationship Id="rId16" Type="http://schemas.openxmlformats.org/officeDocument/2006/relationships/font" Target="fonts/TrispaceExtraBold-bold.fntdata"/><Relationship Id="rId19" Type="http://schemas.openxmlformats.org/officeDocument/2006/relationships/font" Target="fonts/MavenProSemiBold-regular.fntdata"/><Relationship Id="rId18" Type="http://schemas.openxmlformats.org/officeDocument/2006/relationships/font" Target="fonts/Trispace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31dade48e3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31dade48e3_2_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31dade48e3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331dade48e3_2_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31dade48e3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31dade48e3_2_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31dade48e3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31dade48e3_2_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31dade48e3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31dade48e3_2_6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1dade48e3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g331dade48e3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4062ebb30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g34062ebb30e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52d68a03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52d68a03d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31dade48e3_2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331dade48e3_2_1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" name="Google Shape;23;p3"/>
          <p:cNvSpPr txBox="1"/>
          <p:nvPr>
            <p:ph hasCustomPrompt="1" idx="2" type="title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Char char="■"/>
              <a:defRPr/>
            </a:lvl9pPr>
          </a:lstStyle>
          <a:p/>
        </p:txBody>
      </p:sp>
      <p:sp>
        <p:nvSpPr>
          <p:cNvPr id="27" name="Google Shape;27;p4"/>
          <p:cNvSpPr/>
          <p:nvPr/>
        </p:nvSpPr>
        <p:spPr>
          <a:xfrm>
            <a:off x="4523725" y="316260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 rot="-10492926">
            <a:off x="-1867197" y="3324908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30" name="Google Shape;30;p4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" name="Google Shape;34;p4"/>
          <p:cNvGrpSpPr/>
          <p:nvPr/>
        </p:nvGrpSpPr>
        <p:grpSpPr>
          <a:xfrm>
            <a:off x="7450103" y="2640103"/>
            <a:ext cx="1597872" cy="2451290"/>
            <a:chOff x="7450103" y="2640103"/>
            <a:chExt cx="1597872" cy="2451290"/>
          </a:xfrm>
        </p:grpSpPr>
        <p:sp>
          <p:nvSpPr>
            <p:cNvPr id="35" name="Google Shape;35;p4"/>
            <p:cNvSpPr/>
            <p:nvPr/>
          </p:nvSpPr>
          <p:spPr>
            <a:xfrm>
              <a:off x="7450103" y="4431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8478061" y="37598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5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1" type="subTitle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" type="subTitle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3" type="subTitle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4" type="subTitle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4" name="Google Shape;74;p7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75" name="Google Shape;75;p7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7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7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7"/>
          <p:cNvSpPr txBox="1"/>
          <p:nvPr>
            <p:ph idx="1" type="body"/>
          </p:nvPr>
        </p:nvSpPr>
        <p:spPr>
          <a:xfrm>
            <a:off x="713100" y="1850100"/>
            <a:ext cx="5135400" cy="20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713100" y="1244700"/>
            <a:ext cx="5135400" cy="6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/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>
            <p:ph idx="2" type="pic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/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1"/>
          <p:cNvSpPr txBox="1"/>
          <p:nvPr>
            <p:ph hasCustomPrompt="1" type="title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/>
          <p:nvPr>
            <p:ph idx="1" type="subTitle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rect b="b" l="l" r="r" t="t"/>
            <a:pathLst>
              <a:path extrusionOk="0" h="29882" w="2862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13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hasCustomPrompt="1" idx="2" type="title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hasCustomPrompt="1" idx="3" type="title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/>
          <p:nvPr>
            <p:ph hasCustomPrompt="1" idx="4" type="title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/>
          <p:nvPr>
            <p:ph hasCustomPrompt="1" idx="5" type="title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b="0" sz="36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/>
          <p:nvPr>
            <p:ph idx="1" type="subTitle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3" name="Google Shape;143;p13"/>
          <p:cNvSpPr txBox="1"/>
          <p:nvPr>
            <p:ph idx="6" type="subTitle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4" name="Google Shape;144;p13"/>
          <p:cNvSpPr txBox="1"/>
          <p:nvPr>
            <p:ph idx="7" type="subTitle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45" name="Google Shape;145;p13"/>
          <p:cNvSpPr txBox="1"/>
          <p:nvPr>
            <p:ph idx="8" type="subTitle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4_1_1_2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4"/>
          <p:cNvSpPr/>
          <p:nvPr/>
        </p:nvSpPr>
        <p:spPr>
          <a:xfrm flipH="1" rot="1292342">
            <a:off x="-3321456" y="1927346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4"/>
          <p:cNvSpPr/>
          <p:nvPr/>
        </p:nvSpPr>
        <p:spPr>
          <a:xfrm rot="4535783">
            <a:off x="6914450" y="2837966"/>
            <a:ext cx="3524110" cy="2396771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" name="Google Shape;149;p14"/>
          <p:cNvGrpSpPr/>
          <p:nvPr/>
        </p:nvGrpSpPr>
        <p:grpSpPr>
          <a:xfrm rot="10800000">
            <a:off x="8514859" y="2937143"/>
            <a:ext cx="511267" cy="2017916"/>
            <a:chOff x="8552930" y="2910118"/>
            <a:chExt cx="511267" cy="2017916"/>
          </a:xfrm>
        </p:grpSpPr>
        <p:sp>
          <p:nvSpPr>
            <p:cNvPr id="150" name="Google Shape;150;p14"/>
            <p:cNvSpPr/>
            <p:nvPr/>
          </p:nvSpPr>
          <p:spPr>
            <a:xfrm>
              <a:off x="8737186" y="3350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4"/>
            <p:cNvSpPr/>
            <p:nvPr/>
          </p:nvSpPr>
          <p:spPr>
            <a:xfrm>
              <a:off x="8601061" y="46009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" name="Google Shape;153;p14"/>
          <p:cNvGrpSpPr/>
          <p:nvPr/>
        </p:nvGrpSpPr>
        <p:grpSpPr>
          <a:xfrm rot="7347507">
            <a:off x="134581" y="3888252"/>
            <a:ext cx="912282" cy="1615081"/>
            <a:chOff x="133086" y="3408328"/>
            <a:chExt cx="912262" cy="1615044"/>
          </a:xfrm>
        </p:grpSpPr>
        <p:sp>
          <p:nvSpPr>
            <p:cNvPr id="154" name="Google Shape;154;p14"/>
            <p:cNvSpPr/>
            <p:nvPr/>
          </p:nvSpPr>
          <p:spPr>
            <a:xfrm>
              <a:off x="265110" y="340832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4"/>
            <p:cNvSpPr/>
            <p:nvPr/>
          </p:nvSpPr>
          <p:spPr>
            <a:xfrm>
              <a:off x="385324" y="4098816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4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8" name="Google Shape;158;p14"/>
          <p:cNvSpPr txBox="1"/>
          <p:nvPr>
            <p:ph idx="1" type="body"/>
          </p:nvPr>
        </p:nvSpPr>
        <p:spPr>
          <a:xfrm>
            <a:off x="720000" y="1215750"/>
            <a:ext cx="7704000" cy="11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Condensed Light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Roboto Condensed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1" name="Google Shape;171;p15"/>
          <p:cNvSpPr txBox="1"/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15"/>
          <p:cNvSpPr txBox="1"/>
          <p:nvPr>
            <p:ph idx="1" type="subTitle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15"/>
          <p:cNvSpPr txBox="1"/>
          <p:nvPr>
            <p:ph idx="2" type="subTitle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15"/>
          <p:cNvSpPr txBox="1"/>
          <p:nvPr>
            <p:ph idx="3" type="subTitle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5"/>
          <p:cNvSpPr txBox="1"/>
          <p:nvPr>
            <p:ph idx="4" type="subTitle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6" name="Google Shape;176;p15"/>
          <p:cNvSpPr txBox="1"/>
          <p:nvPr>
            <p:ph idx="5" type="subTitle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77" name="Google Shape;177;p15"/>
          <p:cNvSpPr txBox="1"/>
          <p:nvPr>
            <p:ph idx="6" type="subTitle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" name="Google Shape;190;p16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16"/>
          <p:cNvSpPr txBox="1"/>
          <p:nvPr>
            <p:ph idx="1" type="subTitle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2" name="Google Shape;192;p16"/>
          <p:cNvSpPr txBox="1"/>
          <p:nvPr>
            <p:ph idx="2" type="subTitle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3" name="Google Shape;193;p16"/>
          <p:cNvSpPr txBox="1"/>
          <p:nvPr>
            <p:ph idx="3" type="subTitle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4" type="subTitle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6"/>
          <p:cNvSpPr txBox="1"/>
          <p:nvPr>
            <p:ph idx="5" type="subTitle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6" type="subTitle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7" type="subTitle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8" type="subTitle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0" name="Google Shape;210;p17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1" name="Google Shape;211;p17"/>
          <p:cNvSpPr txBox="1"/>
          <p:nvPr>
            <p:ph idx="1" type="subTitle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2" name="Google Shape;212;p17"/>
          <p:cNvSpPr txBox="1"/>
          <p:nvPr>
            <p:ph idx="2" type="subTitle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17"/>
          <p:cNvSpPr txBox="1"/>
          <p:nvPr>
            <p:ph idx="3" type="subTitle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4" name="Google Shape;214;p17"/>
          <p:cNvSpPr txBox="1"/>
          <p:nvPr>
            <p:ph idx="4" type="subTitle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17"/>
          <p:cNvSpPr txBox="1"/>
          <p:nvPr>
            <p:ph idx="5" type="subTitle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6" name="Google Shape;216;p17"/>
          <p:cNvSpPr txBox="1"/>
          <p:nvPr>
            <p:ph idx="6" type="subTitle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17"/>
          <p:cNvSpPr txBox="1"/>
          <p:nvPr>
            <p:ph idx="7" type="subTitle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8" name="Google Shape;218;p17"/>
          <p:cNvSpPr txBox="1"/>
          <p:nvPr>
            <p:ph idx="8" type="subTitle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19" name="Google Shape;219;p17"/>
          <p:cNvSpPr txBox="1"/>
          <p:nvPr>
            <p:ph idx="9" type="subTitle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13" type="subTitle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1" name="Google Shape;221;p17"/>
          <p:cNvSpPr txBox="1"/>
          <p:nvPr>
            <p:ph idx="14" type="subTitle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222" name="Google Shape;222;p17"/>
          <p:cNvSpPr txBox="1"/>
          <p:nvPr>
            <p:ph idx="15" type="subTitle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5" name="Google Shape;235;p18"/>
          <p:cNvSpPr txBox="1"/>
          <p:nvPr>
            <p:ph hasCustomPrompt="1" type="title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hasCustomPrompt="1" idx="2" type="title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/>
          <p:nvPr>
            <p:ph idx="3" type="subTitle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hasCustomPrompt="1" idx="4" type="title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/>
          <p:nvPr>
            <p:ph idx="5" type="subTitle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2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flipH="1" rot="4372063">
            <a:off x="-3257636" y="1228893"/>
            <a:ext cx="6095914" cy="3491344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3" name="Google Shape;253;p19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2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/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6" name="Google Shape;256;p20"/>
          <p:cNvSpPr/>
          <p:nvPr/>
        </p:nvSpPr>
        <p:spPr>
          <a:xfrm>
            <a:off x="5052478" y="3569975"/>
            <a:ext cx="5371040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"/>
          <p:cNvSpPr/>
          <p:nvPr/>
        </p:nvSpPr>
        <p:spPr>
          <a:xfrm rot="10644777">
            <a:off x="-1048849" y="-1303280"/>
            <a:ext cx="4634055" cy="2824556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8" name="Google Shape;258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59" name="Google Shape;259;p20"/>
            <p:cNvSpPr/>
            <p:nvPr/>
          </p:nvSpPr>
          <p:spPr>
            <a:xfrm>
              <a:off x="187398" y="836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072" y="12530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259298" y="670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62147" y="4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64" name="Google Shape;264;p20"/>
            <p:cNvSpPr/>
            <p:nvPr/>
          </p:nvSpPr>
          <p:spPr>
            <a:xfrm>
              <a:off x="8430903" y="39439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22155" y="3519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635180" y="46746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8185647" y="478991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1"/>
          <p:cNvSpPr/>
          <p:nvPr/>
        </p:nvSpPr>
        <p:spPr>
          <a:xfrm>
            <a:off x="2718684" y="2188525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5510909" y="2530450"/>
            <a:ext cx="7138396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1"/>
          <p:cNvSpPr txBox="1"/>
          <p:nvPr>
            <p:ph type="title"/>
          </p:nvPr>
        </p:nvSpPr>
        <p:spPr>
          <a:xfrm>
            <a:off x="713100" y="650000"/>
            <a:ext cx="3728700" cy="87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2" name="Google Shape;272;p21"/>
          <p:cNvSpPr txBox="1"/>
          <p:nvPr>
            <p:ph idx="1" type="subTitle"/>
          </p:nvPr>
        </p:nvSpPr>
        <p:spPr>
          <a:xfrm>
            <a:off x="713100" y="1523000"/>
            <a:ext cx="3728700" cy="13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3" name="Google Shape;273;p21"/>
          <p:cNvSpPr txBox="1"/>
          <p:nvPr/>
        </p:nvSpPr>
        <p:spPr>
          <a:xfrm>
            <a:off x="713100" y="338545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 This presentation template was created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10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and infographics &amp; images by </a:t>
            </a:r>
            <a:r>
              <a:rPr b="1" lang="en" sz="1000" u="sng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rect b="b" l="l" r="r" t="t"/>
            <a:pathLst>
              <a:path extrusionOk="0" h="10483" w="22438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9_2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flipH="1" rot="1292342">
            <a:off x="-2419456" y="2200421"/>
            <a:ext cx="6095930" cy="3491359"/>
          </a:xfrm>
          <a:custGeom>
            <a:rect b="b" l="l" r="r" t="t"/>
            <a:pathLst>
              <a:path extrusionOk="0" h="19413" w="31849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F9D247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rect b="b" l="l" r="r" t="t"/>
            <a:pathLst>
              <a:path extrusionOk="0" h="14034" w="20635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F9D247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rect b="b" l="l" r="r" t="t"/>
              <a:pathLst>
                <a:path extrusionOk="0" h="4810" w="4809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"/>
          <p:cNvSpPr txBox="1"/>
          <p:nvPr>
            <p:ph type="title"/>
          </p:nvPr>
        </p:nvSpPr>
        <p:spPr>
          <a:xfrm>
            <a:off x="345090" y="428767"/>
            <a:ext cx="64506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8" name="Google Shape;308;p25"/>
          <p:cNvSpPr txBox="1"/>
          <p:nvPr>
            <p:ph idx="1" type="body"/>
          </p:nvPr>
        </p:nvSpPr>
        <p:spPr>
          <a:xfrm>
            <a:off x="256431" y="1711003"/>
            <a:ext cx="8631600" cy="2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2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indent="-228600" lvl="2" marL="13716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indent="-228600" lvl="4" marL="22860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indent="-228600" lvl="5" marL="27432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indent="-228600" lvl="6" marL="32004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indent="-228600" lvl="7" marL="3657600" algn="l"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indent="-228600" lvl="8" marL="4114800" algn="l"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  <p:sp>
        <p:nvSpPr>
          <p:cNvPr id="309" name="Google Shape;309;p2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25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26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6858000" w="12192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gradFill>
            <a:gsLst>
              <a:gs pos="0">
                <a:srgbClr val="FEFCEF"/>
              </a:gs>
              <a:gs pos="100000">
                <a:srgbClr val="F6DE75"/>
              </a:gs>
            </a:gsLst>
            <a:lin ang="5400012" scaled="0"/>
          </a:gra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18" name="Google Shape;318;p27"/>
          <p:cNvSpPr txBox="1"/>
          <p:nvPr>
            <p:ph type="title"/>
          </p:nvPr>
        </p:nvSpPr>
        <p:spPr>
          <a:xfrm>
            <a:off x="345090" y="428767"/>
            <a:ext cx="64506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 sz="3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2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7"/>
          <p:cNvSpPr txBox="1"/>
          <p:nvPr>
            <p:ph idx="12" type="sldNum"/>
          </p:nvPr>
        </p:nvSpPr>
        <p:spPr>
          <a:xfrm>
            <a:off x="6583680" y="4783455"/>
            <a:ext cx="210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youtube.com/clip/UgkxNAyNwP29qRHsbJNe1eePQCXEJDMhdiFj?si=cSv4jr8zUf-8B_pe" TargetMode="External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youtube.com/clip/UgkxNAyNwP29qRHsbJNe1eePQCXEJDMhdiFj?si=cSv4jr8zUf-8B_pe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6DB"/>
            </a:gs>
            <a:gs pos="100000">
              <a:srgbClr val="FAD15C"/>
            </a:gs>
          </a:gsLst>
          <a:lin ang="5400012" scaled="0"/>
        </a:gra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8"/>
          <p:cNvSpPr txBox="1"/>
          <p:nvPr/>
        </p:nvSpPr>
        <p:spPr>
          <a:xfrm>
            <a:off x="2711137" y="3437775"/>
            <a:ext cx="3574200" cy="213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&lt;&lt; INSERT YOUR STARTUP NAME &gt;&gt;</a:t>
            </a:r>
            <a:endParaRPr sz="1200">
              <a:solidFill>
                <a:srgbClr val="0000FF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27" name="Google Shape;327;p28"/>
          <p:cNvSpPr txBox="1"/>
          <p:nvPr/>
        </p:nvSpPr>
        <p:spPr>
          <a:xfrm>
            <a:off x="2471675" y="2835200"/>
            <a:ext cx="4053000" cy="213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&lt;&lt; INSERT YOUR STARTUP LOGO [OPTIONAL] &gt;&gt;</a:t>
            </a:r>
            <a:endParaRPr sz="1200">
              <a:solidFill>
                <a:srgbClr val="0000FF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28" name="Google Shape;328;p28"/>
          <p:cNvSpPr txBox="1"/>
          <p:nvPr>
            <p:ph type="title"/>
          </p:nvPr>
        </p:nvSpPr>
        <p:spPr>
          <a:xfrm>
            <a:off x="1346700" y="3924575"/>
            <a:ext cx="64506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5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(A </a:t>
            </a:r>
            <a:r>
              <a:rPr b="1" lang="en" sz="12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PRE-PRE-INCUBATOR </a:t>
            </a:r>
            <a:r>
              <a:rPr lang="en" sz="12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MODEL)</a:t>
            </a:r>
            <a:endParaRPr i="1" sz="1300">
              <a:solidFill>
                <a:srgbClr val="CC0000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cxnSp>
        <p:nvCxnSpPr>
          <p:cNvPr id="329" name="Google Shape;329;p28"/>
          <p:cNvCxnSpPr/>
          <p:nvPr/>
        </p:nvCxnSpPr>
        <p:spPr>
          <a:xfrm>
            <a:off x="3740650" y="3235150"/>
            <a:ext cx="1515000" cy="0"/>
          </a:xfrm>
          <a:prstGeom prst="straightConnector1">
            <a:avLst/>
          </a:prstGeom>
          <a:noFill/>
          <a:ln cap="flat" cmpd="sng" w="19050">
            <a:solidFill>
              <a:srgbClr val="191919"/>
            </a:solidFill>
            <a:prstDash val="solid"/>
            <a:round/>
            <a:headEnd len="med" w="med" type="diamond"/>
            <a:tailEnd len="med" w="med" type="diamond"/>
          </a:ln>
        </p:spPr>
      </p:cxnSp>
      <p:pic>
        <p:nvPicPr>
          <p:cNvPr id="330" name="Google Shape;3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750" y="387925"/>
            <a:ext cx="7464800" cy="236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"/>
          <p:cNvSpPr/>
          <p:nvPr/>
        </p:nvSpPr>
        <p:spPr>
          <a:xfrm>
            <a:off x="114300" y="121444"/>
            <a:ext cx="8915400" cy="4901088"/>
          </a:xfrm>
          <a:custGeom>
            <a:rect b="b" l="l" r="r" t="t"/>
            <a:pathLst>
              <a:path extrusionOk="0" h="6534784" w="11887200">
                <a:moveTo>
                  <a:pt x="0" y="0"/>
                </a:moveTo>
                <a:lnTo>
                  <a:pt x="11887199" y="0"/>
                </a:lnTo>
                <a:lnTo>
                  <a:pt x="11887199" y="6534299"/>
                </a:lnTo>
                <a:lnTo>
                  <a:pt x="0" y="653429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graphicFrame>
        <p:nvGraphicFramePr>
          <p:cNvPr id="336" name="Google Shape;336;p29"/>
          <p:cNvGraphicFramePr/>
          <p:nvPr/>
        </p:nvGraphicFramePr>
        <p:xfrm>
          <a:off x="673381" y="1137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{9A70106C-105A-4063-AE37-8F5F9AD3ACE3}</a:tableStyleId>
              </a:tblPr>
              <a:tblGrid>
                <a:gridCol w="1051050"/>
                <a:gridCol w="1000425"/>
                <a:gridCol w="2013375"/>
                <a:gridCol w="2191325"/>
                <a:gridCol w="1501350"/>
              </a:tblGrid>
              <a:tr h="644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Name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Student E-mail ID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 </a:t>
                      </a: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Skill Sets </a:t>
                      </a: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You Bring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Passion (or) Interests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  </a:t>
                      </a:r>
                      <a:r>
                        <a:rPr b="1" lang="en" sz="1200" u="none" cap="none" strike="noStrike">
                          <a:solidFill>
                            <a:srgbClr val="00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Role in Team</a:t>
                      </a:r>
                      <a:endParaRPr b="1" sz="1200" u="none" cap="none" strike="noStrike">
                        <a:solidFill>
                          <a:srgbClr val="00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</a:tr>
              <a:tr h="60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67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5583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pic>
        <p:nvPicPr>
          <p:cNvPr id="337" name="Google Shape;3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375" y="210225"/>
            <a:ext cx="482800" cy="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1457800" y="293100"/>
            <a:ext cx="379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About</a:t>
            </a:r>
            <a:r>
              <a:rPr b="1"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 You &amp; Your </a:t>
            </a:r>
            <a:r>
              <a:rPr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Team </a:t>
            </a:r>
            <a:endParaRPr b="1" sz="20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3" name="Google Shape;343;p30"/>
          <p:cNvGraphicFramePr/>
          <p:nvPr/>
        </p:nvGraphicFramePr>
        <p:xfrm>
          <a:off x="673399" y="11197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{9A70106C-105A-4063-AE37-8F5F9AD3ACE3}</a:tableStyleId>
              </a:tblPr>
              <a:tblGrid>
                <a:gridCol w="2221625"/>
                <a:gridCol w="5575600"/>
              </a:tblGrid>
              <a:tr h="705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Industry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1762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[</a:t>
                      </a:r>
                      <a:r>
                        <a:rPr lang="en" sz="1100" u="none" cap="none" strike="noStrike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Mention which industry is this idea useful for?]</a:t>
                      </a:r>
                      <a:endParaRPr sz="1100" u="none" cap="none" strike="noStrike">
                        <a:solidFill>
                          <a:srgbClr val="0000FF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48100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692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Proposed Idea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666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[Mention if it's a Hardware/Software/Hybrid company]</a:t>
                      </a:r>
                      <a:endParaRPr sz="1100" u="none" cap="none" strike="noStrike">
                        <a:solidFill>
                          <a:srgbClr val="0000FF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CC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[</a:t>
                      </a:r>
                      <a:r>
                        <a:rPr b="1" lang="en" sz="1100">
                          <a:solidFill>
                            <a:srgbClr val="CC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It is required that the idea should have potential customers on campus in Paradox; they may be </a:t>
                      </a:r>
                      <a:r>
                        <a:rPr b="1" lang="en" sz="1100">
                          <a:solidFill>
                            <a:srgbClr val="CC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Students, </a:t>
                      </a:r>
                      <a:r>
                        <a:rPr b="1" lang="en" sz="1100">
                          <a:solidFill>
                            <a:srgbClr val="CC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Professors, Instructors or other Staff</a:t>
                      </a:r>
                      <a:r>
                        <a:rPr lang="en" sz="1100">
                          <a:solidFill>
                            <a:srgbClr val="CC0000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  <a:endParaRPr sz="1100">
                        <a:solidFill>
                          <a:srgbClr val="CC0000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39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Similar Existing Companies</a:t>
                      </a:r>
                      <a:endParaRPr sz="1100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666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[This field is optional; just to get a gist of the 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existing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 business model</a:t>
                      </a:r>
                      <a:endParaRPr sz="1100">
                        <a:solidFill>
                          <a:srgbClr val="0000FF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or idea 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relevance in the market</a:t>
                      </a:r>
                      <a:r>
                        <a:rPr lang="en" sz="1100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]</a:t>
                      </a:r>
                      <a:endParaRPr sz="1100" u="none" cap="none" strike="noStrike">
                        <a:solidFill>
                          <a:srgbClr val="0000FF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9717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  <a:tr h="766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chemeClr val="lt1"/>
                          </a:solidFill>
                          <a:latin typeface="Trispace SemiBold"/>
                          <a:ea typeface="Trispace SemiBold"/>
                          <a:cs typeface="Trispace SemiBold"/>
                          <a:sym typeface="Trispace SemiBold"/>
                        </a:rPr>
                        <a:t>Technology Used</a:t>
                      </a:r>
                      <a:endParaRPr sz="1100" u="none" cap="none" strike="noStrike">
                        <a:solidFill>
                          <a:schemeClr val="lt1"/>
                        </a:solidFill>
                        <a:latin typeface="Trispace SemiBold"/>
                        <a:ea typeface="Trispace SemiBold"/>
                        <a:cs typeface="Trispace SemiBold"/>
                        <a:sym typeface="Trispace SemiBold"/>
                      </a:endParaRPr>
                    </a:p>
                  </a:txBody>
                  <a:tcPr marT="23825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cap="none" strike="noStrike">
                          <a:solidFill>
                            <a:srgbClr val="0000FF"/>
                          </a:solidFill>
                          <a:latin typeface="Maven Pro"/>
                          <a:ea typeface="Maven Pro"/>
                          <a:cs typeface="Maven Pro"/>
                          <a:sym typeface="Maven Pro"/>
                        </a:rPr>
                        <a:t>[Briefly mention which technology is the startup building upon]</a:t>
                      </a:r>
                      <a:endParaRPr sz="1100" u="none" cap="none" strike="noStrike">
                        <a:solidFill>
                          <a:srgbClr val="0000FF"/>
                        </a:solidFill>
                        <a:latin typeface="Maven Pro"/>
                        <a:ea typeface="Maven Pro"/>
                        <a:cs typeface="Maven Pro"/>
                        <a:sym typeface="Maven Pro"/>
                      </a:endParaRPr>
                    </a:p>
                  </a:txBody>
                  <a:tcPr marT="54300" marB="0" marR="0" marL="0" anchor="ctr">
                    <a:lnL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BF9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344" name="Google Shape;344;p30"/>
          <p:cNvSpPr txBox="1"/>
          <p:nvPr/>
        </p:nvSpPr>
        <p:spPr>
          <a:xfrm>
            <a:off x="1457800" y="293100"/>
            <a:ext cx="320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Solution Overview</a:t>
            </a:r>
            <a:endParaRPr b="1" sz="20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345" name="Google Shape;34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363" y="242475"/>
            <a:ext cx="600525" cy="59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/>
          <p:nvPr/>
        </p:nvSpPr>
        <p:spPr>
          <a:xfrm>
            <a:off x="114300" y="121444"/>
            <a:ext cx="8915400" cy="4900613"/>
          </a:xfrm>
          <a:custGeom>
            <a:rect b="b" l="l" r="r" t="t"/>
            <a:pathLst>
              <a:path extrusionOk="0" h="6534150" w="11887200">
                <a:moveTo>
                  <a:pt x="0" y="0"/>
                </a:moveTo>
                <a:lnTo>
                  <a:pt x="11887199" y="0"/>
                </a:lnTo>
                <a:lnTo>
                  <a:pt x="11887199" y="6534149"/>
                </a:lnTo>
                <a:lnTo>
                  <a:pt x="0" y="6534149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51" name="Google Shape;351;p31"/>
          <p:cNvSpPr/>
          <p:nvPr/>
        </p:nvSpPr>
        <p:spPr>
          <a:xfrm>
            <a:off x="183225" y="913750"/>
            <a:ext cx="4267676" cy="3898702"/>
          </a:xfrm>
          <a:custGeom>
            <a:rect b="b" l="l" r="r" t="t"/>
            <a:pathLst>
              <a:path extrusionOk="0" h="5286375" w="5690235">
                <a:moveTo>
                  <a:pt x="0" y="0"/>
                </a:moveTo>
                <a:lnTo>
                  <a:pt x="5689799" y="0"/>
                </a:lnTo>
                <a:lnTo>
                  <a:pt x="56897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Describe the </a:t>
            </a: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problems</a:t>
            </a: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that you are intending to solve and how do they </a:t>
            </a: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occur</a:t>
            </a: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 for the customers.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4719750" y="913750"/>
            <a:ext cx="3995738" cy="3898702"/>
          </a:xfrm>
          <a:custGeom>
            <a:rect b="b" l="l" r="r" t="t"/>
            <a:pathLst>
              <a:path extrusionOk="0" h="5286375" w="5327650">
                <a:moveTo>
                  <a:pt x="0" y="0"/>
                </a:moveTo>
                <a:lnTo>
                  <a:pt x="5327399" y="0"/>
                </a:lnTo>
                <a:lnTo>
                  <a:pt x="5327399" y="5285999"/>
                </a:lnTo>
                <a:lnTo>
                  <a:pt x="0" y="5285999"/>
                </a:lnTo>
                <a:lnTo>
                  <a:pt x="0" y="0"/>
                </a:lnTo>
                <a:close/>
              </a:path>
            </a:pathLst>
          </a:custGeom>
          <a:noFill/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1C00"/>
                </a:solidFill>
                <a:latin typeface="Maven Pro SemiBold"/>
                <a:ea typeface="Maven Pro SemiBold"/>
                <a:cs typeface="Maven Pro SemiBold"/>
                <a:sym typeface="Maven Pro SemiBold"/>
              </a:rPr>
              <a:t>What are your proposed solutions to these problems ? How will your solution be able to solve this in the best possible way ?</a:t>
            </a:r>
            <a:endParaRPr sz="1100">
              <a:solidFill>
                <a:srgbClr val="A61C00"/>
              </a:solidFill>
              <a:latin typeface="Maven Pro SemiBold"/>
              <a:ea typeface="Maven Pro SemiBold"/>
              <a:cs typeface="Maven Pro SemiBold"/>
              <a:sym typeface="Maven Pro SemiBold"/>
            </a:endParaRPr>
          </a:p>
        </p:txBody>
      </p:sp>
      <p:sp>
        <p:nvSpPr>
          <p:cNvPr id="353" name="Google Shape;353;p31"/>
          <p:cNvSpPr txBox="1"/>
          <p:nvPr/>
        </p:nvSpPr>
        <p:spPr>
          <a:xfrm>
            <a:off x="206306" y="383175"/>
            <a:ext cx="4267800" cy="305400"/>
          </a:xfrm>
          <a:prstGeom prst="rect">
            <a:avLst/>
          </a:prstGeom>
          <a:solidFill>
            <a:srgbClr val="FFC8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63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rispace SemiBold"/>
                <a:ea typeface="Trispace SemiBold"/>
                <a:cs typeface="Trispace SemiBold"/>
                <a:sym typeface="Trispace SemiBold"/>
              </a:rPr>
              <a:t>     </a:t>
            </a:r>
            <a:r>
              <a:rPr lang="en" sz="1800">
                <a:latin typeface="Trispace SemiBold"/>
                <a:ea typeface="Trispace SemiBold"/>
                <a:cs typeface="Trispace SemiBold"/>
                <a:sym typeface="Trispace SemiBold"/>
              </a:rPr>
              <a:t>Define The </a:t>
            </a:r>
            <a:r>
              <a:rPr lang="en" sz="1800">
                <a:latin typeface="Trispace SemiBold"/>
                <a:ea typeface="Trispace SemiBold"/>
                <a:cs typeface="Trispace SemiBold"/>
                <a:sym typeface="Trispace SemiBold"/>
              </a:rPr>
              <a:t>Problem(s) </a:t>
            </a:r>
            <a:endParaRPr sz="1800"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54" name="Google Shape;354;p31"/>
          <p:cNvSpPr txBox="1"/>
          <p:nvPr>
            <p:ph type="title"/>
          </p:nvPr>
        </p:nvSpPr>
        <p:spPr>
          <a:xfrm>
            <a:off x="4740900" y="383175"/>
            <a:ext cx="3995700" cy="305400"/>
          </a:xfrm>
          <a:prstGeom prst="rect">
            <a:avLst/>
          </a:prstGeom>
          <a:solidFill>
            <a:srgbClr val="FFC8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100">
            <a:spAutoFit/>
          </a:bodyPr>
          <a:lstStyle/>
          <a:p>
            <a:pPr indent="0" lvl="0" marL="635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   Your </a:t>
            </a:r>
            <a:r>
              <a:rPr lang="en" sz="18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Solution(s) </a:t>
            </a:r>
            <a:endParaRPr sz="18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pic>
        <p:nvPicPr>
          <p:cNvPr id="355" name="Google Shape;3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963" y="252263"/>
            <a:ext cx="574275" cy="57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2175" y="229593"/>
            <a:ext cx="574250" cy="5503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1" name="Google Shape;36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8375" y="1419238"/>
            <a:ext cx="1716700" cy="171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2" name="Google Shape;362;p32"/>
          <p:cNvSpPr/>
          <p:nvPr/>
        </p:nvSpPr>
        <p:spPr>
          <a:xfrm>
            <a:off x="3078450" y="3135900"/>
            <a:ext cx="1716600" cy="4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Anushka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Trispace Light"/>
                <a:ea typeface="Trispace Light"/>
                <a:cs typeface="Trispace Light"/>
                <a:sym typeface="Trispace Light"/>
              </a:rPr>
              <a:t>A final-year college student</a:t>
            </a:r>
            <a:endParaRPr sz="800">
              <a:solidFill>
                <a:schemeClr val="lt1"/>
              </a:solidFill>
              <a:latin typeface="Trispace Light"/>
              <a:ea typeface="Trispace Light"/>
              <a:cs typeface="Trispace Light"/>
              <a:sym typeface="Trispace Light"/>
            </a:endParaRPr>
          </a:p>
        </p:txBody>
      </p:sp>
      <p:sp>
        <p:nvSpPr>
          <p:cNvPr id="363" name="Google Shape;363;p32"/>
          <p:cNvSpPr txBox="1"/>
          <p:nvPr/>
        </p:nvSpPr>
        <p:spPr>
          <a:xfrm>
            <a:off x="1330650" y="4479575"/>
            <a:ext cx="64827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95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    </a:t>
            </a: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Note : </a:t>
            </a:r>
            <a:r>
              <a:rPr b="1"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Personas</a:t>
            </a: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 define your </a:t>
            </a:r>
            <a:r>
              <a:rPr b="1"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typical customer, </a:t>
            </a: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so it is desired to choose them carefully.</a:t>
            </a:r>
            <a:endParaRPr sz="1000">
              <a:solidFill>
                <a:srgbClr val="191919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1919"/>
                </a:solidFill>
                <a:latin typeface="Maven Pro"/>
                <a:ea typeface="Maven Pro"/>
                <a:cs typeface="Maven Pro"/>
                <a:sym typeface="Maven Pro"/>
              </a:rPr>
              <a:t>The ones given above are just examples.</a:t>
            </a:r>
            <a:endParaRPr sz="1000">
              <a:solidFill>
                <a:srgbClr val="191919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pSp>
        <p:nvGrpSpPr>
          <p:cNvPr id="364" name="Google Shape;364;p32"/>
          <p:cNvGrpSpPr/>
          <p:nvPr/>
        </p:nvGrpSpPr>
        <p:grpSpPr>
          <a:xfrm>
            <a:off x="536875" y="1434199"/>
            <a:ext cx="2367305" cy="2199925"/>
            <a:chOff x="1415663" y="1786563"/>
            <a:chExt cx="1935813" cy="1877550"/>
          </a:xfrm>
        </p:grpSpPr>
        <p:sp>
          <p:nvSpPr>
            <p:cNvPr id="365" name="Google Shape;365;p32"/>
            <p:cNvSpPr/>
            <p:nvPr/>
          </p:nvSpPr>
          <p:spPr>
            <a:xfrm>
              <a:off x="1819075" y="3108513"/>
              <a:ext cx="1532400" cy="555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3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latin typeface="Maven Pro"/>
                  <a:ea typeface="Maven Pro"/>
                  <a:cs typeface="Maven Pro"/>
                  <a:sym typeface="Maven Pro"/>
                </a:rPr>
                <a:t>Who is using the product?</a:t>
              </a:r>
              <a:endParaRPr b="1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366" name="Google Shape;366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415663" y="3136213"/>
              <a:ext cx="500200" cy="5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7" name="Google Shape;367;p32"/>
            <p:cNvSpPr/>
            <p:nvPr/>
          </p:nvSpPr>
          <p:spPr>
            <a:xfrm>
              <a:off x="1819075" y="2447550"/>
              <a:ext cx="1532400" cy="555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0803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Maven Pro"/>
                  <a:ea typeface="Maven Pro"/>
                  <a:cs typeface="Maven Pro"/>
                  <a:sym typeface="Maven Pro"/>
                </a:rPr>
                <a:t>Who is paying for the product?</a:t>
              </a:r>
              <a:endParaRPr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368" name="Google Shape;368;p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15675" y="2475250"/>
              <a:ext cx="500200" cy="5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2"/>
            <p:cNvSpPr/>
            <p:nvPr/>
          </p:nvSpPr>
          <p:spPr>
            <a:xfrm>
              <a:off x="1819075" y="1786563"/>
              <a:ext cx="1532400" cy="5556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392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  <a:latin typeface="Maven Pro"/>
                  <a:ea typeface="Maven Pro"/>
                  <a:cs typeface="Maven Pro"/>
                  <a:sym typeface="Maven Pro"/>
                </a:rPr>
                <a:t>Who are your customers?</a:t>
              </a:r>
              <a:endParaRPr b="1" sz="1100">
                <a:latin typeface="Maven Pro"/>
                <a:ea typeface="Maven Pro"/>
                <a:cs typeface="Maven Pro"/>
                <a:sym typeface="Maven Pro"/>
              </a:endParaRPr>
            </a:p>
          </p:txBody>
        </p:sp>
        <p:pic>
          <p:nvPicPr>
            <p:cNvPr id="370" name="Google Shape;370;p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415676" y="1849019"/>
              <a:ext cx="500200" cy="43070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1" name="Google Shape;371;p32"/>
          <p:cNvSpPr txBox="1"/>
          <p:nvPr/>
        </p:nvSpPr>
        <p:spPr>
          <a:xfrm>
            <a:off x="1457800" y="293100"/>
            <a:ext cx="320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User Persona</a:t>
            </a:r>
            <a:endParaRPr b="1" sz="20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  <p:pic>
        <p:nvPicPr>
          <p:cNvPr id="372" name="Google Shape;372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6862" y="293100"/>
            <a:ext cx="873550" cy="4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/>
          <p:nvPr/>
        </p:nvSpPr>
        <p:spPr>
          <a:xfrm>
            <a:off x="4862675" y="3135900"/>
            <a:ext cx="1716600" cy="4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Gaurav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Trispace Light"/>
                <a:ea typeface="Trispace Light"/>
                <a:cs typeface="Trispace Light"/>
                <a:sym typeface="Trispace Light"/>
              </a:rPr>
              <a:t>A working professional</a:t>
            </a:r>
            <a:endParaRPr sz="700">
              <a:solidFill>
                <a:srgbClr val="CC0000"/>
              </a:solidFill>
              <a:latin typeface="Trispace Light"/>
              <a:ea typeface="Trispace Light"/>
              <a:cs typeface="Trispace Light"/>
              <a:sym typeface="Trispace Light"/>
            </a:endParaRPr>
          </a:p>
        </p:txBody>
      </p:sp>
      <p:sp>
        <p:nvSpPr>
          <p:cNvPr id="374" name="Google Shape;374;p32"/>
          <p:cNvSpPr/>
          <p:nvPr/>
        </p:nvSpPr>
        <p:spPr>
          <a:xfrm>
            <a:off x="6646875" y="3135900"/>
            <a:ext cx="1716600" cy="498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Chhavi</a:t>
            </a:r>
            <a:endParaRPr b="1" sz="900">
              <a:solidFill>
                <a:schemeClr val="lt1"/>
              </a:solidFill>
              <a:latin typeface="Trispace"/>
              <a:ea typeface="Trispace"/>
              <a:cs typeface="Trispace"/>
              <a:sym typeface="Trispac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Trispace Light"/>
                <a:ea typeface="Trispace Light"/>
                <a:cs typeface="Trispace Light"/>
                <a:sym typeface="Trispace Light"/>
              </a:rPr>
              <a:t>A fresher in the corporate world</a:t>
            </a:r>
            <a:endParaRPr sz="700">
              <a:solidFill>
                <a:srgbClr val="CC0000"/>
              </a:solidFill>
              <a:latin typeface="Trispace Light"/>
              <a:ea typeface="Trispace Light"/>
              <a:cs typeface="Trispace Light"/>
              <a:sym typeface="Trispace Light"/>
            </a:endParaRPr>
          </a:p>
        </p:txBody>
      </p:sp>
      <p:pic>
        <p:nvPicPr>
          <p:cNvPr id="375" name="Google Shape;375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646825" y="1419250"/>
            <a:ext cx="1716700" cy="1716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6" name="Google Shape;376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62675" y="1419350"/>
            <a:ext cx="1716600" cy="1716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3"/>
          <p:cNvSpPr txBox="1"/>
          <p:nvPr>
            <p:ph type="title"/>
          </p:nvPr>
        </p:nvSpPr>
        <p:spPr>
          <a:xfrm>
            <a:off x="598075" y="3294250"/>
            <a:ext cx="7947900" cy="29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588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Additional Information</a:t>
            </a:r>
            <a:endParaRPr sz="15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</p:txBody>
      </p:sp>
      <p:sp>
        <p:nvSpPr>
          <p:cNvPr id="382" name="Google Shape;382;p33"/>
          <p:cNvSpPr txBox="1"/>
          <p:nvPr/>
        </p:nvSpPr>
        <p:spPr>
          <a:xfrm>
            <a:off x="598075" y="3575650"/>
            <a:ext cx="7947900" cy="742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9525">
            <a:norm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61C00"/>
                </a:solidFill>
                <a:latin typeface="Maven Pro"/>
                <a:ea typeface="Maven Pro"/>
                <a:cs typeface="Maven Pro"/>
                <a:sym typeface="Maven Pro"/>
              </a:rPr>
              <a:t>Anything else you wish to share ?</a:t>
            </a:r>
            <a:endParaRPr sz="1200">
              <a:solidFill>
                <a:srgbClr val="A61C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A61C00"/>
                </a:solidFill>
                <a:latin typeface="Maven Pro"/>
                <a:ea typeface="Maven Pro"/>
                <a:cs typeface="Maven Pro"/>
                <a:sym typeface="Maven Pro"/>
              </a:rPr>
              <a:t>Important links or information etc. ?</a:t>
            </a:r>
            <a:endParaRPr sz="1200">
              <a:solidFill>
                <a:srgbClr val="A61C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83" name="Google Shape;383;p33"/>
          <p:cNvSpPr txBox="1"/>
          <p:nvPr/>
        </p:nvSpPr>
        <p:spPr>
          <a:xfrm>
            <a:off x="1349200" y="169100"/>
            <a:ext cx="750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 Your Prototype Details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or Links Here 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84" name="Google Shape;384;p33"/>
          <p:cNvSpPr txBox="1"/>
          <p:nvPr/>
        </p:nvSpPr>
        <p:spPr>
          <a:xfrm>
            <a:off x="598075" y="1647625"/>
            <a:ext cx="7832700" cy="6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(This may include Mural, Figma Wireframes, working or static prototypes, relevant website links projected to be deployed or used for services etc).</a:t>
            </a:r>
            <a:endParaRPr sz="1200">
              <a:solidFill>
                <a:srgbClr val="CC0000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85" name="Google Shape;38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076" y="168008"/>
            <a:ext cx="751125" cy="742783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/>
          <p:nvPr/>
        </p:nvSpPr>
        <p:spPr>
          <a:xfrm>
            <a:off x="598075" y="1335200"/>
            <a:ext cx="7832700" cy="33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&lt;&lt; Insert Your Solution OR Idea Prototype Link Here &gt;&gt;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4"/>
          <p:cNvSpPr txBox="1"/>
          <p:nvPr/>
        </p:nvSpPr>
        <p:spPr>
          <a:xfrm>
            <a:off x="598075" y="2226600"/>
            <a:ext cx="7832700" cy="136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(This will be a 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Google Drive folder link of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 video recordings of in-person or virtual interviews with 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potential customers recorded iteratively before coming to campus, with respect to the solution that you have formulated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)</a:t>
            </a:r>
            <a:endParaRPr sz="1200">
              <a:solidFill>
                <a:srgbClr val="CC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&lt;&lt;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100" u="sng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a reference customer testimonial video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&gt;&gt;</a:t>
            </a:r>
            <a:endParaRPr b="1"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92" name="Google Shape;392;p34"/>
          <p:cNvSpPr txBox="1"/>
          <p:nvPr/>
        </p:nvSpPr>
        <p:spPr>
          <a:xfrm>
            <a:off x="1349200" y="169100"/>
            <a:ext cx="750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 Your Customer Interview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or Review Links Here 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93" name="Google Shape;39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288" y="211325"/>
            <a:ext cx="686976" cy="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/>
          <p:nvPr/>
        </p:nvSpPr>
        <p:spPr>
          <a:xfrm>
            <a:off x="598075" y="1891200"/>
            <a:ext cx="7832700" cy="33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&lt;&lt; Insert Customer Reviews &amp; Feedback of Idea Prototype Drive Link Here &gt;&gt;</a:t>
            </a:r>
            <a:endParaRPr b="1" i="1" sz="1300">
              <a:solidFill>
                <a:srgbClr val="0000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/>
          <p:nvPr/>
        </p:nvSpPr>
        <p:spPr>
          <a:xfrm>
            <a:off x="598075" y="2226600"/>
            <a:ext cx="7832700" cy="1362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(This will be a 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separate</a:t>
            </a:r>
            <a:r>
              <a:rPr lang="en" sz="1200">
                <a:solidFill>
                  <a:srgbClr val="CC0000"/>
                </a:solidFill>
                <a:latin typeface="Maven Pro"/>
                <a:ea typeface="Maven Pro"/>
                <a:cs typeface="Maven Pro"/>
                <a:sym typeface="Maven Pro"/>
              </a:rPr>
              <a:t> Google Drive folder link of video recordings of in-person interviews with potential customers recorded iteratively after coming to campus, with respect to the solution that you have formulated)</a:t>
            </a:r>
            <a:endParaRPr sz="1200">
              <a:solidFill>
                <a:srgbClr val="CC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ctr">
              <a:lnSpc>
                <a:spcPct val="113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&lt;&lt;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100" u="sng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Click here for a reference customer testimonial video</a:t>
            </a:r>
            <a:r>
              <a:rPr b="1" i="1" lang="en" sz="1200">
                <a:solidFill>
                  <a:srgbClr val="3D85C6"/>
                </a:solidFill>
                <a:latin typeface="Trispace"/>
                <a:ea typeface="Trispace"/>
                <a:cs typeface="Trispace"/>
                <a:sym typeface="Trispace"/>
              </a:rPr>
              <a:t>’</a:t>
            </a:r>
            <a:r>
              <a:rPr b="1" i="1" lang="en" sz="1200">
                <a:solidFill>
                  <a:schemeClr val="lt1"/>
                </a:solidFill>
                <a:latin typeface="Trispace"/>
                <a:ea typeface="Trispace"/>
                <a:cs typeface="Trispace"/>
                <a:sym typeface="Trispace"/>
              </a:rPr>
              <a:t>&gt;&gt;</a:t>
            </a:r>
            <a:endParaRPr b="1" sz="12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1349200" y="169100"/>
            <a:ext cx="7509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Add Your </a:t>
            </a:r>
            <a:r>
              <a:rPr b="1" lang="en" sz="20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On-Campus</a:t>
            </a: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 Customer Interview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2000">
                <a:solidFill>
                  <a:schemeClr val="lt1"/>
                </a:solidFill>
                <a:latin typeface="Trispace SemiBold"/>
                <a:ea typeface="Trispace SemiBold"/>
                <a:cs typeface="Trispace SemiBold"/>
                <a:sym typeface="Trispace SemiBold"/>
              </a:rPr>
              <a:t>or Review Links Here </a:t>
            </a:r>
            <a:endParaRPr sz="2000">
              <a:solidFill>
                <a:schemeClr val="lt1"/>
              </a:solidFill>
              <a:latin typeface="Trispace SemiBold"/>
              <a:ea typeface="Trispace SemiBold"/>
              <a:cs typeface="Trispace SemiBold"/>
              <a:sym typeface="Trispace SemiBold"/>
            </a:endParaRPr>
          </a:p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401" name="Google Shape;4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1288" y="211325"/>
            <a:ext cx="686976" cy="658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35"/>
          <p:cNvSpPr/>
          <p:nvPr/>
        </p:nvSpPr>
        <p:spPr>
          <a:xfrm>
            <a:off x="598075" y="1891200"/>
            <a:ext cx="7832700" cy="3354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300">
                <a:solidFill>
                  <a:srgbClr val="0000FF"/>
                </a:solidFill>
                <a:latin typeface="Trispace"/>
                <a:ea typeface="Trispace"/>
                <a:cs typeface="Trispace"/>
                <a:sym typeface="Trispace"/>
              </a:rPr>
              <a:t>&lt;&lt; Insert Customer Reviews &amp; Feedback of Idea Prototype Drive Link Here &gt;&gt;</a:t>
            </a:r>
            <a:endParaRPr b="1" i="1" sz="1300">
              <a:solidFill>
                <a:srgbClr val="0000FF"/>
              </a:solidFill>
              <a:latin typeface="Trispace"/>
              <a:ea typeface="Trispace"/>
              <a:cs typeface="Trispace"/>
              <a:sym typeface="Trispa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6"/>
          <p:cNvSpPr txBox="1"/>
          <p:nvPr>
            <p:ph type="title"/>
          </p:nvPr>
        </p:nvSpPr>
        <p:spPr>
          <a:xfrm>
            <a:off x="279625" y="3749375"/>
            <a:ext cx="86775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CC0000"/>
                </a:solidFill>
                <a:latin typeface="Trispace ExtraBold"/>
                <a:ea typeface="Trispace ExtraBold"/>
                <a:cs typeface="Trispace ExtraBold"/>
                <a:sym typeface="Trispace ExtraBold"/>
              </a:rPr>
              <a:t>Thank You </a:t>
            </a:r>
            <a:r>
              <a:rPr lang="en" sz="20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For</a:t>
            </a:r>
            <a:r>
              <a:rPr lang="en" sz="2000">
                <a:solidFill>
                  <a:srgbClr val="CC0000"/>
                </a:solidFill>
                <a:latin typeface="Trispace ExtraBold"/>
                <a:ea typeface="Trispace ExtraBold"/>
                <a:cs typeface="Trispace ExtraBold"/>
                <a:sym typeface="Trispace ExtraBold"/>
              </a:rPr>
              <a:t> Reviewing </a:t>
            </a:r>
            <a:r>
              <a:rPr lang="en" sz="2000">
                <a:solidFill>
                  <a:srgbClr val="CC0000"/>
                </a:solidFill>
                <a:latin typeface="Trispace"/>
                <a:ea typeface="Trispace"/>
                <a:cs typeface="Trispace"/>
                <a:sym typeface="Trispace"/>
              </a:rPr>
              <a:t>Our</a:t>
            </a:r>
            <a:r>
              <a:rPr lang="en" sz="2000">
                <a:solidFill>
                  <a:srgbClr val="CC0000"/>
                </a:solidFill>
                <a:latin typeface="Trispace ExtraBold"/>
                <a:ea typeface="Trispace ExtraBold"/>
                <a:cs typeface="Trispace ExtraBold"/>
                <a:sym typeface="Trispace ExtraBold"/>
              </a:rPr>
              <a:t> Pitch Deck!</a:t>
            </a:r>
            <a:endParaRPr sz="2000">
              <a:solidFill>
                <a:srgbClr val="CC0000"/>
              </a:solidFill>
              <a:latin typeface="Trispace ExtraBold"/>
              <a:ea typeface="Trispace ExtraBold"/>
              <a:cs typeface="Trispace ExtraBold"/>
              <a:sym typeface="Trispace ExtraBold"/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Dancing Script"/>
              <a:ea typeface="Dancing Script"/>
              <a:cs typeface="Dancing Script"/>
              <a:sym typeface="Dancing Script"/>
            </a:endParaRPr>
          </a:p>
        </p:txBody>
      </p:sp>
      <p:pic>
        <p:nvPicPr>
          <p:cNvPr id="408" name="Google Shape;4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00" y="752975"/>
            <a:ext cx="7490401" cy="23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 App Pitch Deck Yelow Variant by Slidesgo">
  <a:themeElements>
    <a:clrScheme name="Simple Light">
      <a:dk1>
        <a:srgbClr val="FFFFFF"/>
      </a:dk1>
      <a:lt1>
        <a:srgbClr val="181502"/>
      </a:lt1>
      <a:dk2>
        <a:srgbClr val="FCEEAF"/>
      </a:dk2>
      <a:lt2>
        <a:srgbClr val="F9D247"/>
      </a:lt2>
      <a:accent1>
        <a:srgbClr val="56460E"/>
      </a:accent1>
      <a:accent2>
        <a:srgbClr val="D8E2AC"/>
      </a:accent2>
      <a:accent3>
        <a:srgbClr val="F57E47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