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Trispace ExtraBold"/>
      <p:bold r:id="rId16"/>
    </p:embeddedFont>
    <p:embeddedFont>
      <p:font typeface="Trispace SemiBold"/>
      <p:regular r:id="rId17"/>
      <p:bold r:id="rId18"/>
    </p:embeddedFont>
    <p:embeddedFont>
      <p:font typeface="Maven Pro SemiBold"/>
      <p:regular r:id="rId19"/>
      <p:bold r:id="rId20"/>
    </p:embeddedFont>
    <p:embeddedFont>
      <p:font typeface="Trispace"/>
      <p:regular r:id="rId21"/>
      <p:bold r:id="rId22"/>
    </p:embeddedFont>
    <p:embeddedFont>
      <p:font typeface="Bebas Neue"/>
      <p:regular r:id="rId23"/>
    </p:embeddedFont>
    <p:embeddedFont>
      <p:font typeface="Maven Pro"/>
      <p:regular r:id="rId24"/>
      <p:bold r:id="rId25"/>
    </p:embeddedFont>
    <p:embeddedFont>
      <p:font typeface="Lora"/>
      <p:regular r:id="rId26"/>
      <p:bold r:id="rId27"/>
      <p:italic r:id="rId28"/>
      <p:boldItalic r:id="rId29"/>
    </p:embeddedFont>
    <p:embeddedFont>
      <p:font typeface="PT Sans"/>
      <p:regular r:id="rId30"/>
      <p:bold r:id="rId31"/>
      <p:italic r:id="rId32"/>
      <p:boldItalic r:id="rId33"/>
    </p:embeddedFont>
    <p:embeddedFont>
      <p:font typeface="Dancing Script"/>
      <p:regular r:id="rId34"/>
      <p:bold r:id="rId35"/>
    </p:embeddedFont>
    <p:embeddedFont>
      <p:font typeface="Trispace Light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70106C-105A-4063-AE37-8F5F9AD3ACE3}">
  <a:tblStyle styleId="{9A70106C-105A-4063-AE37-8F5F9AD3ACE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TrispaceExtraBold-bold.fntdata"/><Relationship Id="rId17" Type="http://schemas.openxmlformats.org/officeDocument/2006/relationships/font" Target="fonts/TrispaceSemiBold-regular.fntdata"/><Relationship Id="rId18" Type="http://schemas.openxmlformats.org/officeDocument/2006/relationships/font" Target="fonts/TrispaceSemiBold-bold.fntdata"/><Relationship Id="rId19" Type="http://schemas.openxmlformats.org/officeDocument/2006/relationships/font" Target="fonts/MavenProSemiBold-regular.fntdata"/><Relationship Id="rId20" Type="http://schemas.openxmlformats.org/officeDocument/2006/relationships/font" Target="fonts/MavenProSemiBold-bold.fntdata"/><Relationship Id="rId21" Type="http://schemas.openxmlformats.org/officeDocument/2006/relationships/font" Target="fonts/Trispace-regular.fntdata"/><Relationship Id="rId22" Type="http://schemas.openxmlformats.org/officeDocument/2006/relationships/font" Target="fonts/Trispace-bold.fntdata"/><Relationship Id="rId23" Type="http://schemas.openxmlformats.org/officeDocument/2006/relationships/font" Target="fonts/BebasNeue-regular.fntdata"/><Relationship Id="rId24" Type="http://schemas.openxmlformats.org/officeDocument/2006/relationships/font" Target="fonts/MavenPro-regular.fntdata"/><Relationship Id="rId25" Type="http://schemas.openxmlformats.org/officeDocument/2006/relationships/font" Target="fonts/MavenPro-bold.fntdata"/><Relationship Id="rId26" Type="http://schemas.openxmlformats.org/officeDocument/2006/relationships/font" Target="fonts/Lora-regular.fntdata"/><Relationship Id="rId27" Type="http://schemas.openxmlformats.org/officeDocument/2006/relationships/font" Target="fonts/Lora-bold.fntdata"/><Relationship Id="rId28" Type="http://schemas.openxmlformats.org/officeDocument/2006/relationships/font" Target="fonts/Lora-italic.fntdata"/><Relationship Id="rId29" Type="http://schemas.openxmlformats.org/officeDocument/2006/relationships/font" Target="fonts/Lora-boldItalic.fntdata"/><Relationship Id="rId30" Type="http://schemas.openxmlformats.org/officeDocument/2006/relationships/font" Target="fonts/PTSans-regular.fntdata"/><Relationship Id="rId31" Type="http://schemas.openxmlformats.org/officeDocument/2006/relationships/font" Target="fonts/PTSans-bold.fntdata"/><Relationship Id="rId32" Type="http://schemas.openxmlformats.org/officeDocument/2006/relationships/font" Target="fonts/PTSans-italic.fntdata"/><Relationship Id="rId33" Type="http://schemas.openxmlformats.org/officeDocument/2006/relationships/font" Target="fonts/PTSans-boldItalic.fntdata"/><Relationship Id="rId34" Type="http://schemas.openxmlformats.org/officeDocument/2006/relationships/font" Target="fonts/DancingScript-regular.fntdata"/><Relationship Id="rId35" Type="http://schemas.openxmlformats.org/officeDocument/2006/relationships/font" Target="fonts/DancingScript-bold.fntdata"/><Relationship Id="rId36" Type="http://schemas.openxmlformats.org/officeDocument/2006/relationships/font" Target="fonts/TrispaceLight-regular.fntdata"/><Relationship Id="rId37" Type="http://schemas.openxmlformats.org/officeDocument/2006/relationships/font" Target="fonts/TrispaceLight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31dade48e3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31dade48e3_2_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31dade48e3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31dade48e3_2_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31dade48e3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31dade48e3_2_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31dade48e3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31dade48e3_2_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31dade48e3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31dade48e3_2_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1dade48e3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31dade48e3_2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4062ebb30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4062ebb30e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52d68a03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52d68a03d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31dade48e3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31dade48e3_2_1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0050" y="165212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129998" y="3268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1650101">
            <a:off x="-1796682" y="-2203059"/>
            <a:ext cx="3817087" cy="3985301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217100" y="3702075"/>
            <a:ext cx="1823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-847382" y="2075875"/>
            <a:ext cx="5842699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6638834" y="-220904"/>
            <a:ext cx="2625339" cy="1785511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7542636" y="81040"/>
            <a:ext cx="1521562" cy="1069823"/>
            <a:chOff x="7542636" y="81040"/>
            <a:chExt cx="1521562" cy="1069823"/>
          </a:xfrm>
        </p:grpSpPr>
        <p:sp>
          <p:nvSpPr>
            <p:cNvPr id="18" name="Google Shape;18;p3"/>
            <p:cNvSpPr/>
            <p:nvPr/>
          </p:nvSpPr>
          <p:spPr>
            <a:xfrm>
              <a:off x="8132548" y="810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737186" y="7529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7542636" y="13924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8048505" y="6820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3525900" y="3189750"/>
            <a:ext cx="490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5084000" y="1609750"/>
            <a:ext cx="1789200" cy="108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27" name="Google Shape;27;p4"/>
          <p:cNvSpPr/>
          <p:nvPr/>
        </p:nvSpPr>
        <p:spPr>
          <a:xfrm>
            <a:off x="4523725" y="3162601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 rot="-10492926">
            <a:off x="-1867197" y="3324908"/>
            <a:ext cx="3817099" cy="3985333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30" name="Google Shape;30;p4"/>
            <p:cNvSpPr/>
            <p:nvPr/>
          </p:nvSpPr>
          <p:spPr>
            <a:xfrm>
              <a:off x="59978" y="42194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54470" y="34743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338511" y="29671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38511" y="3830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4"/>
          <p:cNvGrpSpPr/>
          <p:nvPr/>
        </p:nvGrpSpPr>
        <p:grpSpPr>
          <a:xfrm>
            <a:off x="7450103" y="2640103"/>
            <a:ext cx="1597872" cy="2451290"/>
            <a:chOff x="7450103" y="2640103"/>
            <a:chExt cx="1597872" cy="2451290"/>
          </a:xfrm>
        </p:grpSpPr>
        <p:sp>
          <p:nvSpPr>
            <p:cNvPr id="35" name="Google Shape;35;p4"/>
            <p:cNvSpPr/>
            <p:nvPr/>
          </p:nvSpPr>
          <p:spPr>
            <a:xfrm>
              <a:off x="7450103" y="4431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430905" y="42535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478061" y="26401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8478061" y="37598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579205" y="33075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052478" y="3569975"/>
            <a:ext cx="5371040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 rot="10644777">
            <a:off x="-1048849" y="-1303280"/>
            <a:ext cx="4634055" cy="282455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44" name="Google Shape;44;p5"/>
            <p:cNvSpPr/>
            <p:nvPr/>
          </p:nvSpPr>
          <p:spPr>
            <a:xfrm>
              <a:off x="187398" y="836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53072" y="12530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9298" y="67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62147" y="4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49" name="Google Shape;49;p5"/>
            <p:cNvSpPr/>
            <p:nvPr/>
          </p:nvSpPr>
          <p:spPr>
            <a:xfrm>
              <a:off x="8430903" y="39439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8622155" y="3519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35180" y="46746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8185647" y="47899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1" type="subTitle"/>
          </p:nvPr>
        </p:nvSpPr>
        <p:spPr>
          <a:xfrm>
            <a:off x="5041779" y="2992900"/>
            <a:ext cx="30984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2" type="subTitle"/>
          </p:nvPr>
        </p:nvSpPr>
        <p:spPr>
          <a:xfrm>
            <a:off x="1003675" y="2992900"/>
            <a:ext cx="30984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3" type="subTitle"/>
          </p:nvPr>
        </p:nvSpPr>
        <p:spPr>
          <a:xfrm>
            <a:off x="1003675" y="2674275"/>
            <a:ext cx="30984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4" type="subTitle"/>
          </p:nvPr>
        </p:nvSpPr>
        <p:spPr>
          <a:xfrm>
            <a:off x="5041786" y="2674275"/>
            <a:ext cx="30984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62" name="Google Shape;62;p6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66" name="Google Shape;66;p6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75" name="Google Shape;75;p7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/>
          <p:nvPr>
            <p:ph idx="2" type="pic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 rot="-6419074">
            <a:off x="4830466" y="-402088"/>
            <a:ext cx="7138425" cy="349137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/>
          <p:nvPr/>
        </p:nvSpPr>
        <p:spPr>
          <a:xfrm rot="5868956">
            <a:off x="-2972528" y="1025449"/>
            <a:ext cx="7138386" cy="349139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112" name="Google Shape;112;p11"/>
            <p:cNvSpPr/>
            <p:nvPr/>
          </p:nvSpPr>
          <p:spPr>
            <a:xfrm>
              <a:off x="8409504" y="254378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8107053" y="1250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8030823" y="254364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116" name="Google Shape;116;p11"/>
            <p:cNvSpPr/>
            <p:nvPr/>
          </p:nvSpPr>
          <p:spPr>
            <a:xfrm>
              <a:off x="266653" y="25817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13090" y="3958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262648" y="351537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-137271" y="4115903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1"/>
          <p:cNvSpPr txBox="1"/>
          <p:nvPr>
            <p:ph hasCustomPrompt="1" type="title"/>
          </p:nvPr>
        </p:nvSpPr>
        <p:spPr>
          <a:xfrm>
            <a:off x="1373900" y="2994097"/>
            <a:ext cx="63966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" name="Google Shape;121;p11"/>
          <p:cNvSpPr txBox="1"/>
          <p:nvPr>
            <p:ph idx="1" type="subTitle"/>
          </p:nvPr>
        </p:nvSpPr>
        <p:spPr>
          <a:xfrm>
            <a:off x="3180375" y="3972588"/>
            <a:ext cx="27837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4176175" y="2967151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 rot="-10492926">
            <a:off x="-1478272" y="3333183"/>
            <a:ext cx="3817099" cy="3985333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127" name="Google Shape;127;p13"/>
            <p:cNvSpPr/>
            <p:nvPr/>
          </p:nvSpPr>
          <p:spPr>
            <a:xfrm>
              <a:off x="59978" y="42194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-54470" y="34743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38511" y="29671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38511" y="3830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7524578" y="2640103"/>
            <a:ext cx="1523397" cy="2294040"/>
            <a:chOff x="7524578" y="2640103"/>
            <a:chExt cx="1523397" cy="2294040"/>
          </a:xfrm>
        </p:grpSpPr>
        <p:sp>
          <p:nvSpPr>
            <p:cNvPr id="132" name="Google Shape;132;p13"/>
            <p:cNvSpPr/>
            <p:nvPr/>
          </p:nvSpPr>
          <p:spPr>
            <a:xfrm>
              <a:off x="7524578" y="42740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8430905" y="42535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8478061" y="26401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8151036" y="37764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8579205" y="33075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1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hasCustomPrompt="1" idx="2" type="title"/>
          </p:nvPr>
        </p:nvSpPr>
        <p:spPr>
          <a:xfrm>
            <a:off x="1255644" y="1753825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/>
          <p:nvPr>
            <p:ph hasCustomPrompt="1" idx="3" type="title"/>
          </p:nvPr>
        </p:nvSpPr>
        <p:spPr>
          <a:xfrm>
            <a:off x="1255644" y="3258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/>
          <p:nvPr>
            <p:ph hasCustomPrompt="1" idx="4" type="title"/>
          </p:nvPr>
        </p:nvSpPr>
        <p:spPr>
          <a:xfrm>
            <a:off x="4684638" y="1753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/>
          <p:nvPr>
            <p:ph hasCustomPrompt="1" idx="5" type="title"/>
          </p:nvPr>
        </p:nvSpPr>
        <p:spPr>
          <a:xfrm>
            <a:off x="4684638" y="3258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/>
          <p:nvPr>
            <p:ph idx="1" type="subTitle"/>
          </p:nvPr>
        </p:nvSpPr>
        <p:spPr>
          <a:xfrm>
            <a:off x="2307450" y="1753825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6" type="subTitle"/>
          </p:nvPr>
        </p:nvSpPr>
        <p:spPr>
          <a:xfrm>
            <a:off x="5736450" y="1753825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7" type="subTitle"/>
          </p:nvPr>
        </p:nvSpPr>
        <p:spPr>
          <a:xfrm>
            <a:off x="2307450" y="3258824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13"/>
          <p:cNvSpPr txBox="1"/>
          <p:nvPr>
            <p:ph idx="8" type="subTitle"/>
          </p:nvPr>
        </p:nvSpPr>
        <p:spPr>
          <a:xfrm>
            <a:off x="5736450" y="3258824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4_1_1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/>
          <p:nvPr/>
        </p:nvSpPr>
        <p:spPr>
          <a:xfrm flipH="1" rot="1292342">
            <a:off x="-3321456" y="1927346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 rot="4535783">
            <a:off x="6914450" y="2837966"/>
            <a:ext cx="3524110" cy="2396771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14"/>
          <p:cNvGrpSpPr/>
          <p:nvPr/>
        </p:nvGrpSpPr>
        <p:grpSpPr>
          <a:xfrm rot="10800000">
            <a:off x="8514859" y="2937143"/>
            <a:ext cx="511267" cy="2017916"/>
            <a:chOff x="8552930" y="2910118"/>
            <a:chExt cx="511267" cy="2017916"/>
          </a:xfrm>
        </p:grpSpPr>
        <p:sp>
          <p:nvSpPr>
            <p:cNvPr id="150" name="Google Shape;150;p14"/>
            <p:cNvSpPr/>
            <p:nvPr/>
          </p:nvSpPr>
          <p:spPr>
            <a:xfrm>
              <a:off x="8737186" y="3350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8601061" y="46009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14"/>
          <p:cNvGrpSpPr/>
          <p:nvPr/>
        </p:nvGrpSpPr>
        <p:grpSpPr>
          <a:xfrm rot="7347507">
            <a:off x="134581" y="3888252"/>
            <a:ext cx="912282" cy="1615081"/>
            <a:chOff x="133086" y="3408328"/>
            <a:chExt cx="912262" cy="1615044"/>
          </a:xfrm>
        </p:grpSpPr>
        <p:sp>
          <p:nvSpPr>
            <p:cNvPr id="154" name="Google Shape;154;p14"/>
            <p:cNvSpPr/>
            <p:nvPr/>
          </p:nvSpPr>
          <p:spPr>
            <a:xfrm>
              <a:off x="265110" y="340832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385324" y="4098816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720000" y="1215750"/>
            <a:ext cx="77040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3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flipH="1">
            <a:off x="-3429082" y="2598063"/>
            <a:ext cx="6095899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 rot="-542519">
            <a:off x="6823253" y="-353355"/>
            <a:ext cx="2625360" cy="1785525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15"/>
          <p:cNvGrpSpPr/>
          <p:nvPr/>
        </p:nvGrpSpPr>
        <p:grpSpPr>
          <a:xfrm>
            <a:off x="7560023" y="54840"/>
            <a:ext cx="1504175" cy="1244157"/>
            <a:chOff x="7560023" y="2814490"/>
            <a:chExt cx="1504175" cy="1244157"/>
          </a:xfrm>
        </p:grpSpPr>
        <p:sp>
          <p:nvSpPr>
            <p:cNvPr id="163" name="Google Shape;163;p15"/>
            <p:cNvSpPr/>
            <p:nvPr/>
          </p:nvSpPr>
          <p:spPr>
            <a:xfrm>
              <a:off x="7560023" y="28144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8552936" y="3421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-33427" y="3476090"/>
            <a:ext cx="682702" cy="1547282"/>
            <a:chOff x="-33427" y="3476090"/>
            <a:chExt cx="682702" cy="1547282"/>
          </a:xfrm>
        </p:grpSpPr>
        <p:sp>
          <p:nvSpPr>
            <p:cNvPr id="168" name="Google Shape;168;p15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15"/>
          <p:cNvSpPr txBox="1"/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15"/>
          <p:cNvSpPr txBox="1"/>
          <p:nvPr>
            <p:ph idx="1" type="subTitle"/>
          </p:nvPr>
        </p:nvSpPr>
        <p:spPr>
          <a:xfrm>
            <a:off x="814550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15"/>
          <p:cNvSpPr txBox="1"/>
          <p:nvPr>
            <p:ph idx="2" type="subTitle"/>
          </p:nvPr>
        </p:nvSpPr>
        <p:spPr>
          <a:xfrm>
            <a:off x="3374720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15"/>
          <p:cNvSpPr txBox="1"/>
          <p:nvPr>
            <p:ph idx="3" type="subTitle"/>
          </p:nvPr>
        </p:nvSpPr>
        <p:spPr>
          <a:xfrm>
            <a:off x="5934871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5"/>
          <p:cNvSpPr txBox="1"/>
          <p:nvPr>
            <p:ph idx="4" type="subTitle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76" name="Google Shape;176;p15"/>
          <p:cNvSpPr txBox="1"/>
          <p:nvPr>
            <p:ph idx="5" type="subTitle"/>
          </p:nvPr>
        </p:nvSpPr>
        <p:spPr>
          <a:xfrm>
            <a:off x="3374721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77" name="Google Shape;177;p15"/>
          <p:cNvSpPr txBox="1"/>
          <p:nvPr>
            <p:ph idx="6" type="subTitle"/>
          </p:nvPr>
        </p:nvSpPr>
        <p:spPr>
          <a:xfrm>
            <a:off x="5934864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 flipH="1" rot="4372063">
            <a:off x="-3257636" y="1228893"/>
            <a:ext cx="6095914" cy="349134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 rot="5400000">
            <a:off x="6668857" y="3202942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182" name="Google Shape;182;p16"/>
            <p:cNvSpPr/>
            <p:nvPr/>
          </p:nvSpPr>
          <p:spPr>
            <a:xfrm>
              <a:off x="8457298" y="40525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8505186" y="4750665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16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187" name="Google Shape;187;p16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1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16"/>
          <p:cNvSpPr txBox="1"/>
          <p:nvPr>
            <p:ph idx="1" type="subTitle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16"/>
          <p:cNvSpPr txBox="1"/>
          <p:nvPr>
            <p:ph idx="2" type="subTitle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16"/>
          <p:cNvSpPr txBox="1"/>
          <p:nvPr>
            <p:ph idx="3" type="subTitle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4" type="subTitle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6"/>
          <p:cNvSpPr txBox="1"/>
          <p:nvPr>
            <p:ph idx="5" type="subTitle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6" type="subTitle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7" type="subTitle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8" type="subTitle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17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03" name="Google Shape;203;p17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17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07" name="Google Shape;207;p17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17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7"/>
          <p:cNvSpPr txBox="1"/>
          <p:nvPr>
            <p:ph idx="1" type="subTitle"/>
          </p:nvPr>
        </p:nvSpPr>
        <p:spPr>
          <a:xfrm>
            <a:off x="835000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17"/>
          <p:cNvSpPr txBox="1"/>
          <p:nvPr>
            <p:ph idx="2" type="subTitle"/>
          </p:nvPr>
        </p:nvSpPr>
        <p:spPr>
          <a:xfrm>
            <a:off x="3494193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17"/>
          <p:cNvSpPr txBox="1"/>
          <p:nvPr>
            <p:ph idx="3" type="subTitle"/>
          </p:nvPr>
        </p:nvSpPr>
        <p:spPr>
          <a:xfrm>
            <a:off x="835000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17"/>
          <p:cNvSpPr txBox="1"/>
          <p:nvPr>
            <p:ph idx="4" type="subTitle"/>
          </p:nvPr>
        </p:nvSpPr>
        <p:spPr>
          <a:xfrm>
            <a:off x="3494250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17"/>
          <p:cNvSpPr txBox="1"/>
          <p:nvPr>
            <p:ph idx="5" type="subTitle"/>
          </p:nvPr>
        </p:nvSpPr>
        <p:spPr>
          <a:xfrm>
            <a:off x="6153328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17"/>
          <p:cNvSpPr txBox="1"/>
          <p:nvPr>
            <p:ph idx="6" type="subTitle"/>
          </p:nvPr>
        </p:nvSpPr>
        <p:spPr>
          <a:xfrm>
            <a:off x="6153449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17"/>
          <p:cNvSpPr txBox="1"/>
          <p:nvPr>
            <p:ph idx="7" type="subTitle"/>
          </p:nvPr>
        </p:nvSpPr>
        <p:spPr>
          <a:xfrm>
            <a:off x="3494172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8" name="Google Shape;218;p17"/>
          <p:cNvSpPr txBox="1"/>
          <p:nvPr>
            <p:ph idx="8" type="subTitle"/>
          </p:nvPr>
        </p:nvSpPr>
        <p:spPr>
          <a:xfrm>
            <a:off x="3494172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9" name="Google Shape;219;p17"/>
          <p:cNvSpPr txBox="1"/>
          <p:nvPr>
            <p:ph idx="9" type="subTitle"/>
          </p:nvPr>
        </p:nvSpPr>
        <p:spPr>
          <a:xfrm>
            <a:off x="6153497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0" name="Google Shape;220;p17"/>
          <p:cNvSpPr txBox="1"/>
          <p:nvPr>
            <p:ph idx="13" type="subTitle"/>
          </p:nvPr>
        </p:nvSpPr>
        <p:spPr>
          <a:xfrm>
            <a:off x="6153497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1" name="Google Shape;221;p17"/>
          <p:cNvSpPr txBox="1"/>
          <p:nvPr>
            <p:ph idx="14" type="subTitle"/>
          </p:nvPr>
        </p:nvSpPr>
        <p:spPr>
          <a:xfrm>
            <a:off x="835000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2" name="Google Shape;222;p17"/>
          <p:cNvSpPr txBox="1"/>
          <p:nvPr>
            <p:ph idx="15" type="subTitle"/>
          </p:nvPr>
        </p:nvSpPr>
        <p:spPr>
          <a:xfrm>
            <a:off x="835000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/>
          <p:nvPr/>
        </p:nvSpPr>
        <p:spPr>
          <a:xfrm flipH="1" rot="1292342">
            <a:off x="-2419456" y="2200421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 rot="5400000">
            <a:off x="6537482" y="2747717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" name="Google Shape;226;p18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27" name="Google Shape;227;p18"/>
            <p:cNvSpPr/>
            <p:nvPr/>
          </p:nvSpPr>
          <p:spPr>
            <a:xfrm>
              <a:off x="8495023" y="4363315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8220061" y="47533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" name="Google Shape;231;p18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232" name="Google Shape;232;p18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18"/>
          <p:cNvSpPr txBox="1"/>
          <p:nvPr>
            <p:ph hasCustomPrompt="1" type="title"/>
          </p:nvPr>
        </p:nvSpPr>
        <p:spPr>
          <a:xfrm>
            <a:off x="2437775" y="704675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6" name="Google Shape;236;p18"/>
          <p:cNvSpPr txBox="1"/>
          <p:nvPr>
            <p:ph idx="1" type="subTitle"/>
          </p:nvPr>
        </p:nvSpPr>
        <p:spPr>
          <a:xfrm>
            <a:off x="2437775" y="1350176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7" name="Google Shape;237;p18"/>
          <p:cNvSpPr txBox="1"/>
          <p:nvPr>
            <p:ph hasCustomPrompt="1" idx="2" type="title"/>
          </p:nvPr>
        </p:nvSpPr>
        <p:spPr>
          <a:xfrm>
            <a:off x="2437775" y="2015963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" name="Google Shape;238;p18"/>
          <p:cNvSpPr txBox="1"/>
          <p:nvPr>
            <p:ph idx="3" type="subTitle"/>
          </p:nvPr>
        </p:nvSpPr>
        <p:spPr>
          <a:xfrm>
            <a:off x="2437775" y="2660650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9" name="Google Shape;239;p18"/>
          <p:cNvSpPr txBox="1"/>
          <p:nvPr>
            <p:ph hasCustomPrompt="1" idx="4" type="title"/>
          </p:nvPr>
        </p:nvSpPr>
        <p:spPr>
          <a:xfrm>
            <a:off x="2437775" y="3327300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0" name="Google Shape;240;p18"/>
          <p:cNvSpPr txBox="1"/>
          <p:nvPr>
            <p:ph idx="5" type="subTitle"/>
          </p:nvPr>
        </p:nvSpPr>
        <p:spPr>
          <a:xfrm>
            <a:off x="2437775" y="3971075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/>
          <p:nvPr/>
        </p:nvSpPr>
        <p:spPr>
          <a:xfrm flipH="1" rot="4372063">
            <a:off x="-3257636" y="1228893"/>
            <a:ext cx="6095914" cy="349134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 rot="5400000">
            <a:off x="6668857" y="3202942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" name="Google Shape;244;p19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245" name="Google Shape;245;p19"/>
            <p:cNvSpPr/>
            <p:nvPr/>
          </p:nvSpPr>
          <p:spPr>
            <a:xfrm>
              <a:off x="8457298" y="40525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8505186" y="4750665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" name="Google Shape;249;p19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250" name="Google Shape;250;p19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19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0"/>
          <p:cNvSpPr/>
          <p:nvPr/>
        </p:nvSpPr>
        <p:spPr>
          <a:xfrm>
            <a:off x="5052478" y="3569975"/>
            <a:ext cx="5371040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 rot="10644777">
            <a:off x="-1048849" y="-1303280"/>
            <a:ext cx="4634055" cy="282455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20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259" name="Google Shape;259;p20"/>
            <p:cNvSpPr/>
            <p:nvPr/>
          </p:nvSpPr>
          <p:spPr>
            <a:xfrm>
              <a:off x="187398" y="836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53072" y="12530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1259298" y="67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-62147" y="4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20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264" name="Google Shape;264;p20"/>
            <p:cNvSpPr/>
            <p:nvPr/>
          </p:nvSpPr>
          <p:spPr>
            <a:xfrm>
              <a:off x="8430903" y="39439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8622155" y="3519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6635180" y="46746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8185647" y="47899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>
            <a:off x="2718684" y="2188525"/>
            <a:ext cx="7138396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5510909" y="2530450"/>
            <a:ext cx="7138396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 txBox="1"/>
          <p:nvPr>
            <p:ph type="title"/>
          </p:nvPr>
        </p:nvSpPr>
        <p:spPr>
          <a:xfrm>
            <a:off x="713100" y="650000"/>
            <a:ext cx="3728700" cy="8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2" name="Google Shape;272;p21"/>
          <p:cNvSpPr txBox="1"/>
          <p:nvPr>
            <p:ph idx="1" type="subTitle"/>
          </p:nvPr>
        </p:nvSpPr>
        <p:spPr>
          <a:xfrm>
            <a:off x="713100" y="1523000"/>
            <a:ext cx="3728700" cy="13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3" name="Google Shape;273;p21"/>
          <p:cNvSpPr txBox="1"/>
          <p:nvPr/>
        </p:nvSpPr>
        <p:spPr>
          <a:xfrm>
            <a:off x="713100" y="33854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and infographics &amp; images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flipH="1" rot="1292342">
            <a:off x="-2419456" y="2200421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>
            <p:ph type="title"/>
          </p:nvPr>
        </p:nvSpPr>
        <p:spPr>
          <a:xfrm>
            <a:off x="345090" y="428767"/>
            <a:ext cx="64506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256431" y="1711003"/>
            <a:ext cx="8631600" cy="27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algn="l"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09" name="Google Shape;309;p2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2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5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2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26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gradFill>
            <a:gsLst>
              <a:gs pos="0">
                <a:srgbClr val="FEFCEF"/>
              </a:gs>
              <a:gs pos="100000">
                <a:srgbClr val="F6DE75"/>
              </a:gs>
            </a:gsLst>
            <a:lin ang="5400012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18" name="Google Shape;318;p27"/>
          <p:cNvSpPr txBox="1"/>
          <p:nvPr>
            <p:ph type="title"/>
          </p:nvPr>
        </p:nvSpPr>
        <p:spPr>
          <a:xfrm>
            <a:off x="345090" y="428767"/>
            <a:ext cx="64506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i="0" sz="3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2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7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11.png"/><Relationship Id="rId9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youtube.com/clip/UgkxNAyNwP29qRHsbJNe1eePQCXEJDMhdiFj?si=cSv4jr8zUf-8B_pe" TargetMode="External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youtube.com/clip/UgkxNAyNwP29qRHsbJNe1eePQCXEJDMhdiFj?si=cSv4jr8zUf-8B_pe" TargetMode="External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 txBox="1"/>
          <p:nvPr/>
        </p:nvSpPr>
        <p:spPr>
          <a:xfrm>
            <a:off x="2711137" y="3437775"/>
            <a:ext cx="3574200" cy="213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KARUNA</a:t>
            </a:r>
            <a:endParaRPr sz="1200">
              <a:solidFill>
                <a:srgbClr val="0000FF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</p:txBody>
      </p:sp>
      <p:sp>
        <p:nvSpPr>
          <p:cNvPr id="327" name="Google Shape;327;p28"/>
          <p:cNvSpPr txBox="1"/>
          <p:nvPr/>
        </p:nvSpPr>
        <p:spPr>
          <a:xfrm>
            <a:off x="2471675" y="2835200"/>
            <a:ext cx="4053000" cy="213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AI-Assisted Street Animal Rescue Platform</a:t>
            </a:r>
            <a:endParaRPr sz="1200">
              <a:solidFill>
                <a:srgbClr val="0000FF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</p:txBody>
      </p:sp>
      <p:sp>
        <p:nvSpPr>
          <p:cNvPr id="328" name="Google Shape;328;p28"/>
          <p:cNvSpPr txBox="1"/>
          <p:nvPr>
            <p:ph type="title"/>
          </p:nvPr>
        </p:nvSpPr>
        <p:spPr>
          <a:xfrm>
            <a:off x="1346700" y="3924575"/>
            <a:ext cx="64506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0000"/>
                </a:solidFill>
                <a:latin typeface="Trispace"/>
                <a:ea typeface="Trispace"/>
                <a:cs typeface="Trispace"/>
                <a:sym typeface="Trispace"/>
              </a:rPr>
              <a:t>(A </a:t>
            </a:r>
            <a:r>
              <a:rPr b="1" lang="en" sz="1200">
                <a:solidFill>
                  <a:srgbClr val="CC0000"/>
                </a:solidFill>
                <a:latin typeface="Trispace"/>
                <a:ea typeface="Trispace"/>
                <a:cs typeface="Trispace"/>
                <a:sym typeface="Trispace"/>
              </a:rPr>
              <a:t>PRE-PRE-INCUBATOR </a:t>
            </a:r>
            <a:r>
              <a:rPr lang="en" sz="1200">
                <a:solidFill>
                  <a:srgbClr val="CC0000"/>
                </a:solidFill>
                <a:latin typeface="Trispace"/>
                <a:ea typeface="Trispace"/>
                <a:cs typeface="Trispace"/>
                <a:sym typeface="Trispace"/>
              </a:rPr>
              <a:t>MODEL)</a:t>
            </a:r>
            <a:endParaRPr i="1" sz="1300">
              <a:solidFill>
                <a:srgbClr val="CC0000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</p:txBody>
      </p:sp>
      <p:cxnSp>
        <p:nvCxnSpPr>
          <p:cNvPr id="329" name="Google Shape;329;p28"/>
          <p:cNvCxnSpPr/>
          <p:nvPr/>
        </p:nvCxnSpPr>
        <p:spPr>
          <a:xfrm>
            <a:off x="3740650" y="3235150"/>
            <a:ext cx="1515000" cy="0"/>
          </a:xfrm>
          <a:prstGeom prst="straightConnector1">
            <a:avLst/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diamond"/>
            <a:tailEnd len="med" w="med" type="diamond"/>
          </a:ln>
        </p:spPr>
      </p:cxnSp>
      <p:pic>
        <p:nvPicPr>
          <p:cNvPr id="330" name="Google Shape;3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750" y="387925"/>
            <a:ext cx="7464800" cy="23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"/>
          <p:cNvSpPr/>
          <p:nvPr/>
        </p:nvSpPr>
        <p:spPr>
          <a:xfrm>
            <a:off x="114300" y="121444"/>
            <a:ext cx="8915400" cy="4901088"/>
          </a:xfrm>
          <a:custGeom>
            <a:rect b="b" l="l" r="r" t="t"/>
            <a:pathLst>
              <a:path extrusionOk="0" h="6534784" w="11887200">
                <a:moveTo>
                  <a:pt x="0" y="0"/>
                </a:moveTo>
                <a:lnTo>
                  <a:pt x="11887199" y="0"/>
                </a:lnTo>
                <a:lnTo>
                  <a:pt x="11887199" y="6534299"/>
                </a:lnTo>
                <a:lnTo>
                  <a:pt x="0" y="65342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graphicFrame>
        <p:nvGraphicFramePr>
          <p:cNvPr id="336" name="Google Shape;336;p29"/>
          <p:cNvGraphicFramePr/>
          <p:nvPr/>
        </p:nvGraphicFramePr>
        <p:xfrm>
          <a:off x="673381" y="11378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{9A70106C-105A-4063-AE37-8F5F9AD3ACE3}</a:tableStyleId>
              </a:tblPr>
              <a:tblGrid>
                <a:gridCol w="1051050"/>
                <a:gridCol w="1000425"/>
                <a:gridCol w="2013375"/>
                <a:gridCol w="2191325"/>
                <a:gridCol w="1501350"/>
              </a:tblGrid>
              <a:tr h="644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Name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7175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Student E-mail ID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7175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 </a:t>
                      </a:r>
                      <a:r>
                        <a:rPr b="1" lang="en" sz="1200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Skill Sets </a:t>
                      </a:r>
                      <a:r>
                        <a:rPr b="1" lang="en" sz="1200" u="none" cap="none" strike="noStrike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You Bring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7175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Passion (or) Interests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7175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  </a:t>
                      </a:r>
                      <a:r>
                        <a:rPr b="1" lang="en" sz="1200" u="none" cap="none" strike="noStrike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Role in Team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7175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60302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Vukka Sai Nikhil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25f2005507@ds.study.iitm.ac.in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Python, AI/ML, YOLOv8, React Native, FastAPI, System Design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Animal welfare, AI for social good, building end-to-end products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Founder &amp; Tech Lead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673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[Team Member 2 Name]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[member2@ds.study.iitm.ac.in]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[e.g. UI/UX, React, Figma, Prototyping]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[e.g. Design thinking, accessibility]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[e.g. Product &amp; Design Lead]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2487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[Team Member 3 Name]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[member3@ds.study.iitm.ac.in]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[e.g. Backend, PostgreSQL, REST APIs]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[e.g. Open data, civic tech]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[e.g. Backend Engineer]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5837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[Team Member 4 Name]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[member4@ds.study.iitm.ac.in]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[e.g. Business, Marketing, Customer Research]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[e.g. Entrepreneurship, NGO collaboration]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[e.g. Business &amp; Outreach Lead]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5837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[Team Member 5 Name (optional)]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[member5@ds.study.iitm.ac.in]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[e.g. Data Analytics, Streamlit, SQL]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[e.g. Public health, One Health]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[e.g. Research &amp; Analytics]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pic>
        <p:nvPicPr>
          <p:cNvPr id="337" name="Google Shape;3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375" y="210225"/>
            <a:ext cx="482800" cy="6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9"/>
          <p:cNvSpPr txBox="1"/>
          <p:nvPr/>
        </p:nvSpPr>
        <p:spPr>
          <a:xfrm>
            <a:off x="1457800" y="293100"/>
            <a:ext cx="379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About</a:t>
            </a:r>
            <a:r>
              <a:rPr b="1" lang="en" sz="20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 You &amp; Your </a:t>
            </a:r>
            <a:r>
              <a:rPr lang="en" sz="20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Team </a:t>
            </a:r>
            <a:endParaRPr b="1" sz="20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3" name="Google Shape;343;p30"/>
          <p:cNvGraphicFramePr/>
          <p:nvPr/>
        </p:nvGraphicFramePr>
        <p:xfrm>
          <a:off x="673399" y="11197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{9A70106C-105A-4063-AE37-8F5F9AD3ACE3}</a:tableStyleId>
              </a:tblPr>
              <a:tblGrid>
                <a:gridCol w="2221625"/>
                <a:gridCol w="5575600"/>
              </a:tblGrid>
              <a:tr h="70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Trispace SemiBold"/>
                          <a:ea typeface="Trispace SemiBold"/>
                          <a:cs typeface="Trispace SemiBold"/>
                          <a:sym typeface="Trispace SemiBold"/>
                        </a:rPr>
                        <a:t>Industry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Trispace SemiBold"/>
                        <a:ea typeface="Trispace SemiBold"/>
                        <a:cs typeface="Trispace SemiBold"/>
                        <a:sym typeface="Trispace SemiBold"/>
                      </a:endParaRPr>
                    </a:p>
                  </a:txBody>
                  <a:tcPr marT="17625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Animal Welfare &amp; AnimalTech / Social Impact / Public Health (One Health) /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Civic-Tech &amp; AI-for-Good. Useful across Indian municipalities, animal rescue NGOs,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veterinary clinics, donors and citizens.</a:t>
                      </a:r>
                    </a:p>
                  </a:txBody>
                  <a:tcPr marT="48100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69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rispace SemiBold"/>
                          <a:ea typeface="Trispace SemiBold"/>
                          <a:cs typeface="Trispace SemiBold"/>
                          <a:sym typeface="Trispace SemiBold"/>
                        </a:rPr>
                        <a:t>Proposed Idea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Trispace SemiBold"/>
                        <a:ea typeface="Trispace SemiBold"/>
                        <a:cs typeface="Trispace SemiBold"/>
                        <a:sym typeface="Trispace SemiBold"/>
                      </a:endParaRPr>
                    </a:p>
                  </a:txBody>
                  <a:tcPr marT="66675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Software – a cross-platform mobile + web application (KARUNA).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Citizens photograph an injured street animal; the app auto-captures GPS + timestamp,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a YOLOv8-based model classifies injury type and severity, the hybrid triage engine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generates multilingual first-aid steps, and a matching algorithm auto-dispatches the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nearest responder. Treatment, donations and adoption are all logged against one case ID.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 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On-campus potential customers in Paradox: BS-Degree students who volunteer with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rescues, faculty / staff who feed campus dogs, and the IITM animal-care cell.</a:t>
                      </a:r>
                    </a:p>
                  </a:txBody>
                  <a:tcPr marT="97175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73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rispace SemiBold"/>
                          <a:ea typeface="Trispace SemiBold"/>
                          <a:cs typeface="Trispace SemiBold"/>
                          <a:sym typeface="Trispace SemiBold"/>
                        </a:rPr>
                        <a:t>Similar Existing Companies</a:t>
                      </a:r>
                      <a:endParaRPr sz="1100">
                        <a:solidFill>
                          <a:schemeClr val="lt1"/>
                        </a:solidFill>
                        <a:latin typeface="Trispace SemiBold"/>
                        <a:ea typeface="Trispace SemiBold"/>
                        <a:cs typeface="Trispace SemiBold"/>
                        <a:sym typeface="Trispace SemiBold"/>
                      </a:endParaRPr>
                    </a:p>
                  </a:txBody>
                  <a:tcPr marT="66675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Let It Wag, Strayz, PetFinder (intake &amp; adoption only),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HSI-Apps (ABC-programme field tool).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None of them connect AI-based injury triage, automated dispatch,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treatment tracking and per-case donations in a single workflow.</a:t>
                      </a:r>
                    </a:p>
                  </a:txBody>
                  <a:tcPr marT="97175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7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Trispace SemiBold"/>
                          <a:ea typeface="Trispace SemiBold"/>
                          <a:cs typeface="Trispace SemiBold"/>
                          <a:sym typeface="Trispace SemiBold"/>
                        </a:rPr>
                        <a:t>Technology Used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Trispace SemiBold"/>
                        <a:ea typeface="Trispace SemiBold"/>
                        <a:cs typeface="Trispace SemiBold"/>
                        <a:sym typeface="Trispace SemiBold"/>
                      </a:endParaRPr>
                    </a:p>
                  </a:txBody>
                  <a:tcPr marT="23825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AI: YOLOv8 (fine-tuned on Indian street-animal injuries), Gemini Vision,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gradient-boosted triage classifier.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App: React Native / Flutter (Android + iOS), React.js dashboards.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Backend: FastAPI / Node.js, PostgreSQL, Firebase Firestore, AWS S3 / GCS.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aven Pro"/>
                        </a:rPr>
                        <a:t>Other: Google Maps + OSRM, FCM + Twilio (SMS / WhatsApp), Razorpay / PayU / Stripe.</a:t>
                      </a:r>
                    </a:p>
                  </a:txBody>
                  <a:tcPr marT="54300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344" name="Google Shape;344;p30"/>
          <p:cNvSpPr txBox="1"/>
          <p:nvPr/>
        </p:nvSpPr>
        <p:spPr>
          <a:xfrm>
            <a:off x="1457800" y="293100"/>
            <a:ext cx="320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Solution Overview</a:t>
            </a:r>
            <a:endParaRPr b="1" sz="20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pic>
        <p:nvPicPr>
          <p:cNvPr id="345" name="Google Shape;3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363" y="242475"/>
            <a:ext cx="600525" cy="5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/>
          <p:nvPr/>
        </p:nvSpPr>
        <p:spPr>
          <a:xfrm>
            <a:off x="114300" y="121444"/>
            <a:ext cx="8915400" cy="4900613"/>
          </a:xfrm>
          <a:custGeom>
            <a:rect b="b" l="l" r="r" t="t"/>
            <a:pathLst>
              <a:path extrusionOk="0" h="6534150" w="1188720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51" name="Google Shape;351;p31"/>
          <p:cNvSpPr/>
          <p:nvPr/>
        </p:nvSpPr>
        <p:spPr>
          <a:xfrm>
            <a:off x="183225" y="913750"/>
            <a:ext cx="4267676" cy="3898702"/>
          </a:xfrm>
          <a:custGeom>
            <a:rect b="b" l="l" r="r" t="t"/>
            <a:pathLst>
              <a:path extrusionOk="0" h="5286375" w="5690235">
                <a:moveTo>
                  <a:pt x="0" y="0"/>
                </a:moveTo>
                <a:lnTo>
                  <a:pt x="5689799" y="0"/>
                </a:lnTo>
                <a:lnTo>
                  <a:pt x="5689799" y="5285999"/>
                </a:lnTo>
                <a:lnTo>
                  <a:pt x="0" y="52859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Urban India has a coordination failure, not a resource failure.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When a citizen finds an injured dog or cow on the street, they: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• Search for any NGO number online → call after call → no guaranteed pick-up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• Wait 24+ hours for any response; many animals do not survive the wait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• Have no way to know if anyone actually came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/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NGOs see the same case reported 3-4 times while others go unnoticed.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Donors send money but never see what it paid for.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Municipal ABC programmes have zero ground-truth incident data to plan routes.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/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Reporting, treatment, donations and outcomes live in separate silos —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no single record follows the animal from street to recovery.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4719750" y="913750"/>
            <a:ext cx="3995738" cy="3898702"/>
          </a:xfrm>
          <a:custGeom>
            <a:rect b="b" l="l" r="r" t="t"/>
            <a:pathLst>
              <a:path extrusionOk="0" h="5286375" w="5327650">
                <a:moveTo>
                  <a:pt x="0" y="0"/>
                </a:moveTo>
                <a:lnTo>
                  <a:pt x="5327399" y="0"/>
                </a:lnTo>
                <a:lnTo>
                  <a:pt x="5327399" y="5285999"/>
                </a:lnTo>
                <a:lnTo>
                  <a:pt x="0" y="52859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KARUNA is one unified case record from street to outcome.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/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1. Citizen photographs the animal → app auto-captures GPS + timestamp.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2. YOLOv8 model (fine-tuned on Indian street-animal injuries) detects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   species + injury type → hybrid rule + ML triage engine returns a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   severity score (critical / urgent / routine) + multilingual first-aid steps.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3. Severity score feeds DIRECTLY into a matching algorithm that auto-dispatches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   the nearest qualified responder — no human dispatcher in between.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4. Every step (collection → clinic → treatment → discharge → adoption) is logged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   on the same case ID and is visible to the reporter, NGO, vet and donor in real-time.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5. Per-case donation ledger: every rupee is tied to that animal's actual bills.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6. Anonymised, geo-tagged data feeds municipal ABC &amp; One-Health dashboards.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353" name="Google Shape;353;p31"/>
          <p:cNvSpPr txBox="1"/>
          <p:nvPr/>
        </p:nvSpPr>
        <p:spPr>
          <a:xfrm>
            <a:off x="206306" y="383175"/>
            <a:ext cx="4267800" cy="305400"/>
          </a:xfrm>
          <a:prstGeom prst="rect">
            <a:avLst/>
          </a:prstGeom>
          <a:solidFill>
            <a:srgbClr val="FFC800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100">
            <a:spAutoFit/>
          </a:bodyPr>
          <a:lstStyle/>
          <a:p>
            <a:pPr indent="0" lvl="0" marL="635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rispace SemiBold"/>
                <a:ea typeface="Trispace SemiBold"/>
                <a:cs typeface="Trispace SemiBold"/>
                <a:sym typeface="Trispace SemiBold"/>
              </a:rPr>
              <a:t>     </a:t>
            </a:r>
            <a:r>
              <a:rPr lang="en" sz="1800">
                <a:latin typeface="Trispace SemiBold"/>
                <a:ea typeface="Trispace SemiBold"/>
                <a:cs typeface="Trispace SemiBold"/>
                <a:sym typeface="Trispace SemiBold"/>
              </a:rPr>
              <a:t>Define The </a:t>
            </a:r>
            <a:r>
              <a:rPr lang="en" sz="1800">
                <a:latin typeface="Trispace SemiBold"/>
                <a:ea typeface="Trispace SemiBold"/>
                <a:cs typeface="Trispace SemiBold"/>
                <a:sym typeface="Trispace SemiBold"/>
              </a:rPr>
              <a:t>Problem(s) </a:t>
            </a:r>
            <a:endParaRPr sz="1800">
              <a:latin typeface="Trispace SemiBold"/>
              <a:ea typeface="Trispace SemiBold"/>
              <a:cs typeface="Trispace SemiBold"/>
              <a:sym typeface="Trispace SemiBold"/>
            </a:endParaRPr>
          </a:p>
        </p:txBody>
      </p:sp>
      <p:sp>
        <p:nvSpPr>
          <p:cNvPr id="354" name="Google Shape;354;p31"/>
          <p:cNvSpPr txBox="1"/>
          <p:nvPr>
            <p:ph type="title"/>
          </p:nvPr>
        </p:nvSpPr>
        <p:spPr>
          <a:xfrm>
            <a:off x="4740900" y="383175"/>
            <a:ext cx="3995700" cy="305400"/>
          </a:xfrm>
          <a:prstGeom prst="rect">
            <a:avLst/>
          </a:prstGeom>
          <a:solidFill>
            <a:srgbClr val="FFC800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100">
            <a:spAutoFit/>
          </a:bodyPr>
          <a:lstStyle/>
          <a:p>
            <a:pPr indent="0" lvl="0" marL="635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   Your </a:t>
            </a:r>
            <a:r>
              <a:rPr lang="en" sz="18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Solution(s) </a:t>
            </a:r>
            <a:endParaRPr sz="18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</p:txBody>
      </p:sp>
      <p:pic>
        <p:nvPicPr>
          <p:cNvPr id="355" name="Google Shape;3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63" y="252263"/>
            <a:ext cx="574275" cy="57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2175" y="229593"/>
            <a:ext cx="574250" cy="550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8375" y="1419238"/>
            <a:ext cx="1716700" cy="171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2" name="Google Shape;362;p32"/>
          <p:cNvSpPr/>
          <p:nvPr/>
        </p:nvSpPr>
        <p:spPr>
          <a:xfrm>
            <a:off x="3078450" y="3135900"/>
            <a:ext cx="1716600" cy="4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Aarav, 21</a:t>
            </a:r>
            <a:endParaRPr b="1" sz="9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BS-Degree student / animal-loving citizen who spots injured strays on his daily commute</a:t>
            </a:r>
            <a:endParaRPr b="1" sz="9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363" name="Google Shape;363;p32"/>
          <p:cNvSpPr txBox="1"/>
          <p:nvPr/>
        </p:nvSpPr>
        <p:spPr>
          <a:xfrm>
            <a:off x="1330650" y="4479575"/>
            <a:ext cx="6482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5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    </a:t>
            </a:r>
            <a:r>
              <a:rPr lang="en" sz="10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Note : </a:t>
            </a:r>
            <a:r>
              <a:rPr b="1" lang="en" sz="10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Personas</a:t>
            </a:r>
            <a:r>
              <a:rPr lang="en" sz="10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 define your </a:t>
            </a:r>
            <a:r>
              <a:rPr b="1" lang="en" sz="10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typical customer, </a:t>
            </a:r>
            <a:r>
              <a:rPr lang="en" sz="10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so it is desired to choose them carefully.</a:t>
            </a:r>
            <a:endParaRPr sz="1000">
              <a:solidFill>
                <a:srgbClr val="191919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The ones given above are just examples.</a:t>
            </a:r>
            <a:endParaRPr sz="1000">
              <a:solidFill>
                <a:srgbClr val="191919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364" name="Google Shape;364;p32"/>
          <p:cNvGrpSpPr/>
          <p:nvPr/>
        </p:nvGrpSpPr>
        <p:grpSpPr>
          <a:xfrm>
            <a:off x="536875" y="1434199"/>
            <a:ext cx="2367305" cy="2199925"/>
            <a:chOff x="1415663" y="1786563"/>
            <a:chExt cx="1935813" cy="1877550"/>
          </a:xfrm>
        </p:grpSpPr>
        <p:sp>
          <p:nvSpPr>
            <p:cNvPr id="365" name="Google Shape;365;p32"/>
            <p:cNvSpPr/>
            <p:nvPr/>
          </p:nvSpPr>
          <p:spPr>
            <a:xfrm>
              <a:off x="1819075" y="3108513"/>
              <a:ext cx="1532400" cy="555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3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latin typeface="Maven Pro"/>
                  <a:ea typeface="Maven Pro"/>
                  <a:cs typeface="Maven Pro"/>
                  <a:sym typeface="Maven Pro"/>
                </a:rPr>
                <a:t>Who is using the product?</a:t>
              </a:r>
              <a:endParaRPr b="1" sz="11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pic>
          <p:nvPicPr>
            <p:cNvPr id="366" name="Google Shape;366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15663" y="3136213"/>
              <a:ext cx="500200" cy="5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32"/>
            <p:cNvSpPr/>
            <p:nvPr/>
          </p:nvSpPr>
          <p:spPr>
            <a:xfrm>
              <a:off x="1819075" y="2447550"/>
              <a:ext cx="1532400" cy="555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8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  <a:latin typeface="Maven Pro"/>
                  <a:ea typeface="Maven Pro"/>
                  <a:cs typeface="Maven Pro"/>
                  <a:sym typeface="Maven Pro"/>
                </a:rPr>
                <a:t>Who is paying for the product?</a:t>
              </a: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pic>
          <p:nvPicPr>
            <p:cNvPr id="368" name="Google Shape;368;p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15675" y="2475250"/>
              <a:ext cx="500200" cy="5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2"/>
            <p:cNvSpPr/>
            <p:nvPr/>
          </p:nvSpPr>
          <p:spPr>
            <a:xfrm>
              <a:off x="1819075" y="1786563"/>
              <a:ext cx="1532400" cy="555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3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  <a:latin typeface="Maven Pro"/>
                  <a:ea typeface="Maven Pro"/>
                  <a:cs typeface="Maven Pro"/>
                  <a:sym typeface="Maven Pro"/>
                </a:rPr>
                <a:t>Who are your customers?</a:t>
              </a:r>
              <a:endParaRPr b="1" sz="110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pic>
          <p:nvPicPr>
            <p:cNvPr id="370" name="Google Shape;370;p3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15676" y="1849019"/>
              <a:ext cx="500200" cy="4307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1" name="Google Shape;371;p32"/>
          <p:cNvSpPr txBox="1"/>
          <p:nvPr/>
        </p:nvSpPr>
        <p:spPr>
          <a:xfrm>
            <a:off x="1457800" y="293100"/>
            <a:ext cx="320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User Persona</a:t>
            </a:r>
            <a:endParaRPr b="1" sz="20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pic>
        <p:nvPicPr>
          <p:cNvPr id="372" name="Google Shape;372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6862" y="293100"/>
            <a:ext cx="873550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2"/>
          <p:cNvSpPr/>
          <p:nvPr/>
        </p:nvSpPr>
        <p:spPr>
          <a:xfrm>
            <a:off x="4862675" y="3135900"/>
            <a:ext cx="1716600" cy="4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Priya, 34</a:t>
            </a:r>
            <a:endParaRPr b="1" sz="9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Working professional &amp; recurring donor who wants per-case proof of impact before giving again</a:t>
            </a:r>
            <a:endParaRPr b="1" sz="9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374" name="Google Shape;374;p32"/>
          <p:cNvSpPr/>
          <p:nvPr/>
        </p:nvSpPr>
        <p:spPr>
          <a:xfrm>
            <a:off x="6646875" y="3135900"/>
            <a:ext cx="1716600" cy="4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Dr. Kavitha &amp; Suresh</a:t>
            </a:r>
            <a:endParaRPr b="1" sz="9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Veterinarian, NGO coordinator and Municipal ABC officer — the actual platform users</a:t>
            </a:r>
            <a:endParaRPr b="1" sz="9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pic>
        <p:nvPicPr>
          <p:cNvPr id="375" name="Google Shape;375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6825" y="1419250"/>
            <a:ext cx="1716700" cy="171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6" name="Google Shape;376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62675" y="1419350"/>
            <a:ext cx="1716600" cy="1716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3"/>
          <p:cNvSpPr txBox="1"/>
          <p:nvPr>
            <p:ph type="title"/>
          </p:nvPr>
        </p:nvSpPr>
        <p:spPr>
          <a:xfrm>
            <a:off x="598075" y="3294250"/>
            <a:ext cx="7947900" cy="290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5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Additional Information</a:t>
            </a:r>
            <a:endParaRPr sz="15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</p:txBody>
      </p:sp>
      <p:sp>
        <p:nvSpPr>
          <p:cNvPr id="382" name="Google Shape;382;p33"/>
          <p:cNvSpPr txBox="1"/>
          <p:nvPr/>
        </p:nvSpPr>
        <p:spPr>
          <a:xfrm>
            <a:off x="598075" y="3575650"/>
            <a:ext cx="7947900" cy="74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9525">
            <a:normAutofit/>
          </a:bodyPr>
          <a:lstStyle/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61C00"/>
                </a:solidFill>
                <a:latin typeface="Maven Pro"/>
                <a:ea typeface="Maven Pro"/>
                <a:cs typeface="Maven Pro"/>
                <a:sym typeface="Maven Pro"/>
              </a:rPr>
              <a:t>Working React+TS prototype, YOLOv8 fine-tune notebooks,</a:t>
            </a:r>
            <a:endParaRPr sz="1200">
              <a:solidFill>
                <a:srgbClr val="A61C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61C00"/>
                </a:solidFill>
                <a:latin typeface="Maven Pro"/>
                <a:ea typeface="Maven Pro"/>
                <a:cs typeface="Maven Pro"/>
                <a:sym typeface="Maven Pro"/>
              </a:rPr>
              <a:t>Figma wireframes, copyright research paper, TRL 1–3.</a:t>
            </a:r>
            <a:endParaRPr sz="1200">
              <a:solidFill>
                <a:srgbClr val="A61C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83" name="Google Shape;383;p33"/>
          <p:cNvSpPr txBox="1"/>
          <p:nvPr/>
        </p:nvSpPr>
        <p:spPr>
          <a:xfrm>
            <a:off x="1349200" y="169100"/>
            <a:ext cx="7509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Add Your Prototype Details</a:t>
            </a:r>
            <a:endParaRPr sz="20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or Links Here </a:t>
            </a:r>
            <a:endParaRPr sz="20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84" name="Google Shape;384;p33"/>
          <p:cNvSpPr txBox="1"/>
          <p:nvPr/>
        </p:nvSpPr>
        <p:spPr>
          <a:xfrm>
            <a:off x="598075" y="1647625"/>
            <a:ext cx="7832700" cy="6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(This may include Mural, Figma Wireframes, working or static prototypes, relevant website links projected to be deployed or used for services etc).</a:t>
            </a:r>
            <a:endParaRPr sz="1200">
              <a:solidFill>
                <a:srgbClr val="CC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85" name="Google Shape;3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76" y="168008"/>
            <a:ext cx="751125" cy="742783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3"/>
          <p:cNvSpPr/>
          <p:nvPr/>
        </p:nvSpPr>
        <p:spPr>
          <a:xfrm>
            <a:off x="598075" y="1335200"/>
            <a:ext cx="7832700" cy="335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0000FF"/>
                </a:solidFill>
                <a:latin typeface="Trispace"/>
                <a:ea typeface="Trispace"/>
                <a:cs typeface="Trispace"/>
                <a:sym typeface="Trispace"/>
              </a:rPr>
              <a:t>https://karuna-prototype.vercel.app  |  github.com/&lt;team&gt;/karuna  |  Figma wireframes (links to be added)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"/>
          <p:cNvSpPr txBox="1"/>
          <p:nvPr/>
        </p:nvSpPr>
        <p:spPr>
          <a:xfrm>
            <a:off x="598075" y="2226600"/>
            <a:ext cx="7832700" cy="136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(This will be a </a:t>
            </a: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Google Drive folder link of</a:t>
            </a: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 video recordings of in-person or virtual interviews with </a:t>
            </a: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potential customers recorded iteratively before coming to campus, with respect to the solution that you have formulated</a:t>
            </a: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)</a:t>
            </a:r>
            <a:endParaRPr sz="1200">
              <a:solidFill>
                <a:srgbClr val="CC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CC412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&lt;&lt;</a:t>
            </a:r>
            <a:r>
              <a:rPr b="1" i="1" lang="en" sz="1200">
                <a:solidFill>
                  <a:srgbClr val="3D85C6"/>
                </a:solidFill>
                <a:latin typeface="Trispace"/>
                <a:ea typeface="Trispace"/>
                <a:cs typeface="Trispace"/>
                <a:sym typeface="Trispace"/>
              </a:rPr>
              <a:t>’</a:t>
            </a:r>
            <a:r>
              <a:rPr b="1" i="1" lang="en" sz="1100" u="sng">
                <a:solidFill>
                  <a:srgbClr val="3D85C6"/>
                </a:solidFill>
                <a:latin typeface="Trispace"/>
                <a:ea typeface="Trispace"/>
                <a:cs typeface="Trispace"/>
                <a:sym typeface="Trispac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 for a reference customer testimonial video</a:t>
            </a:r>
            <a:r>
              <a:rPr b="1" i="1" lang="en" sz="1200">
                <a:solidFill>
                  <a:srgbClr val="3D85C6"/>
                </a:solidFill>
                <a:latin typeface="Trispace"/>
                <a:ea typeface="Trispace"/>
                <a:cs typeface="Trispace"/>
                <a:sym typeface="Trispace"/>
              </a:rPr>
              <a:t>’</a:t>
            </a:r>
            <a:r>
              <a:rPr b="1" i="1" lang="en" sz="12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&gt;&gt;</a:t>
            </a:r>
            <a:endParaRPr b="1" sz="12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92" name="Google Shape;392;p34"/>
          <p:cNvSpPr txBox="1"/>
          <p:nvPr/>
        </p:nvSpPr>
        <p:spPr>
          <a:xfrm>
            <a:off x="1349200" y="169100"/>
            <a:ext cx="7509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Add Your Customer Interview</a:t>
            </a:r>
            <a:endParaRPr sz="20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or Review Links Here </a:t>
            </a:r>
            <a:endParaRPr sz="20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93" name="Google Shape;39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288" y="211325"/>
            <a:ext cx="686976" cy="6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4"/>
          <p:cNvSpPr/>
          <p:nvPr/>
        </p:nvSpPr>
        <p:spPr>
          <a:xfrm>
            <a:off x="598075" y="1891200"/>
            <a:ext cx="7832700" cy="335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0000FF"/>
                </a:solidFill>
                <a:latin typeface="Trispace"/>
                <a:ea typeface="Trispace"/>
                <a:cs typeface="Trispace"/>
                <a:sym typeface="Trispace"/>
              </a:rPr>
              <a:t>https://drive.google.com/drive/folders/&lt;karuna-online-interviews&gt;  (link to be added)</a:t>
            </a:r>
            <a:endParaRPr b="1" i="1" sz="1300">
              <a:solidFill>
                <a:srgbClr val="0000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"/>
          <p:cNvSpPr txBox="1"/>
          <p:nvPr/>
        </p:nvSpPr>
        <p:spPr>
          <a:xfrm>
            <a:off x="598075" y="2226600"/>
            <a:ext cx="7832700" cy="136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(This will be a </a:t>
            </a: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separate</a:t>
            </a: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 Google Drive folder link of video recordings of in-person interviews with potential customers recorded iteratively after coming to campus, with respect to the solution that you have formulated)</a:t>
            </a:r>
            <a:endParaRPr sz="1200">
              <a:solidFill>
                <a:srgbClr val="CC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CC412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&lt;&lt;</a:t>
            </a:r>
            <a:r>
              <a:rPr b="1" i="1" lang="en" sz="1200">
                <a:solidFill>
                  <a:srgbClr val="3D85C6"/>
                </a:solidFill>
                <a:latin typeface="Trispace"/>
                <a:ea typeface="Trispace"/>
                <a:cs typeface="Trispace"/>
                <a:sym typeface="Trispace"/>
              </a:rPr>
              <a:t>’</a:t>
            </a:r>
            <a:r>
              <a:rPr b="1" i="1" lang="en" sz="1100" u="sng">
                <a:solidFill>
                  <a:srgbClr val="3D85C6"/>
                </a:solidFill>
                <a:latin typeface="Trispace"/>
                <a:ea typeface="Trispace"/>
                <a:cs typeface="Trispace"/>
                <a:sym typeface="Trispac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 for a reference customer testimonial video</a:t>
            </a:r>
            <a:r>
              <a:rPr b="1" i="1" lang="en" sz="1200">
                <a:solidFill>
                  <a:srgbClr val="3D85C6"/>
                </a:solidFill>
                <a:latin typeface="Trispace"/>
                <a:ea typeface="Trispace"/>
                <a:cs typeface="Trispace"/>
                <a:sym typeface="Trispace"/>
              </a:rPr>
              <a:t>’</a:t>
            </a:r>
            <a:r>
              <a:rPr b="1" i="1" lang="en" sz="12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&gt;&gt;</a:t>
            </a:r>
            <a:endParaRPr b="1" sz="12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00" name="Google Shape;400;p35"/>
          <p:cNvSpPr txBox="1"/>
          <p:nvPr/>
        </p:nvSpPr>
        <p:spPr>
          <a:xfrm>
            <a:off x="1349200" y="169100"/>
            <a:ext cx="7509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Add Your </a:t>
            </a:r>
            <a:r>
              <a:rPr b="1" lang="en" sz="2000">
                <a:solidFill>
                  <a:srgbClr val="0000FF"/>
                </a:solidFill>
                <a:latin typeface="Trispace"/>
                <a:ea typeface="Trispace"/>
                <a:cs typeface="Trispace"/>
                <a:sym typeface="Trispace"/>
              </a:rPr>
              <a:t>On-Campus</a:t>
            </a: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 Customer Interview</a:t>
            </a:r>
            <a:endParaRPr sz="20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or Review Links Here </a:t>
            </a:r>
            <a:endParaRPr sz="20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401" name="Google Shape;40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288" y="211325"/>
            <a:ext cx="686976" cy="6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5"/>
          <p:cNvSpPr/>
          <p:nvPr/>
        </p:nvSpPr>
        <p:spPr>
          <a:xfrm>
            <a:off x="598075" y="1891200"/>
            <a:ext cx="7832700" cy="335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0000FF"/>
                </a:solidFill>
                <a:latin typeface="Trispace"/>
                <a:ea typeface="Trispace"/>
                <a:cs typeface="Trispace"/>
                <a:sym typeface="Trispace"/>
              </a:rPr>
              <a:t>https://drive.google.com/drive/folders/&lt;karuna-oncampus-interviews&gt;  (link to be added)</a:t>
            </a:r>
            <a:endParaRPr b="1" i="1" sz="1300">
              <a:solidFill>
                <a:srgbClr val="0000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6"/>
          <p:cNvSpPr txBox="1"/>
          <p:nvPr>
            <p:ph type="title"/>
          </p:nvPr>
        </p:nvSpPr>
        <p:spPr>
          <a:xfrm>
            <a:off x="279625" y="3749375"/>
            <a:ext cx="86775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C0000"/>
                </a:solidFill>
                <a:latin typeface="Trispace ExtraBold"/>
                <a:ea typeface="Trispace ExtraBold"/>
                <a:cs typeface="Trispace ExtraBold"/>
                <a:sym typeface="Trispace ExtraBold"/>
              </a:rPr>
              <a:t>Thank You </a:t>
            </a:r>
            <a:r>
              <a:rPr lang="en" sz="2000">
                <a:solidFill>
                  <a:srgbClr val="CC0000"/>
                </a:solidFill>
                <a:latin typeface="Trispace"/>
                <a:ea typeface="Trispace"/>
                <a:cs typeface="Trispace"/>
                <a:sym typeface="Trispace"/>
              </a:rPr>
              <a:t>For</a:t>
            </a:r>
            <a:r>
              <a:rPr lang="en" sz="2000">
                <a:solidFill>
                  <a:srgbClr val="CC0000"/>
                </a:solidFill>
                <a:latin typeface="Trispace ExtraBold"/>
                <a:ea typeface="Trispace ExtraBold"/>
                <a:cs typeface="Trispace ExtraBold"/>
                <a:sym typeface="Trispace ExtraBold"/>
              </a:rPr>
              <a:t> Reviewing </a:t>
            </a:r>
            <a:r>
              <a:rPr lang="en" sz="2000">
                <a:solidFill>
                  <a:srgbClr val="CC0000"/>
                </a:solidFill>
                <a:latin typeface="Trispace"/>
                <a:ea typeface="Trispace"/>
                <a:cs typeface="Trispace"/>
                <a:sym typeface="Trispace"/>
              </a:rPr>
              <a:t>Our</a:t>
            </a:r>
            <a:r>
              <a:rPr lang="en" sz="2000">
                <a:solidFill>
                  <a:srgbClr val="CC0000"/>
                </a:solidFill>
                <a:latin typeface="Trispace ExtraBold"/>
                <a:ea typeface="Trispace ExtraBold"/>
                <a:cs typeface="Trispace ExtraBold"/>
                <a:sym typeface="Trispace ExtraBold"/>
              </a:rPr>
              <a:t> Pitch Deck!</a:t>
            </a:r>
            <a:endParaRPr sz="2000">
              <a:solidFill>
                <a:srgbClr val="CC0000"/>
              </a:solidFill>
              <a:latin typeface="Trispace ExtraBold"/>
              <a:ea typeface="Trispace ExtraBold"/>
              <a:cs typeface="Trispace ExtraBold"/>
              <a:sym typeface="Trispace ExtraBold"/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pic>
        <p:nvPicPr>
          <p:cNvPr id="408" name="Google Shape;40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800" y="752975"/>
            <a:ext cx="7490401" cy="23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App Pitch Deck Yelow Variant by Slidesgo">
  <a:themeElements>
    <a:clrScheme name="Simple Light">
      <a:dk1>
        <a:srgbClr val="FFFFFF"/>
      </a:dk1>
      <a:lt1>
        <a:srgbClr val="181502"/>
      </a:lt1>
      <a:dk2>
        <a:srgbClr val="FCEEAF"/>
      </a:dk2>
      <a:lt2>
        <a:srgbClr val="F9D247"/>
      </a:lt2>
      <a:accent1>
        <a:srgbClr val="56460E"/>
      </a:accent1>
      <a:accent2>
        <a:srgbClr val="D8E2AC"/>
      </a:accent2>
      <a:accent3>
        <a:srgbClr val="F57E47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